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6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074C9-64DB-419D-89CD-F49C8B69C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430280-1D93-46F0-9490-EF6994900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13E13D-30C0-4C79-91E9-C55540B9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1C1177-E2AA-4B5A-8BA3-92B4B6EF0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45CD22-742D-4F1B-B623-12063F3B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41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2BF4F-3153-4C16-B2A9-BDA695FA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1C422A-C5E6-42EF-81FB-F277C8F39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94DC74-E0C0-4324-9569-D2ACB5C6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7A98ED-D21E-4FD9-9BE0-5D326ED7A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318D9B-21B1-4E22-B064-5040A4FC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3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2E400-1886-473C-B086-1ACEB17B8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3DD3D6-D7EF-4DC0-AFFF-60B7BADA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5F6207-3D29-4DF3-9FBE-EF61EEA0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194049-F7AB-448C-B5B1-2AFC129D2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822ED4-4586-4D56-9107-2501F3E0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0C790-AE11-46CB-8083-8DED7A7F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3F2BC3-2649-489C-9AD6-2BEE837DC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2D7974-66EA-482C-AE0E-8331DFB10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322EAF-8ADD-4491-A498-F5FD976B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C2AAB3-5717-44FA-AB7C-F950B5DE5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B5F786-0A13-46D5-9CC4-C39CCDC2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7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074FC-4A12-417F-92DF-F29D9C8A3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19B4B8-CB88-4286-981B-58B79CBB8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84EFB0-FF19-452E-A827-1EF4E45AD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2D6D0E-1D79-4B32-9A42-67ADABEF5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499056-4D54-4945-A4BE-0E14A8AA2F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CEB930-73D3-4695-8BE4-7FA47BD9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9684C8-21D1-4E7A-BC04-65BE3102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FB9B5F7-E628-4209-9FE0-88B524F8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82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2C82A-3845-4D95-B532-E22B34F8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17A396-7402-48C0-B1F6-B15EB1800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8CE3CF-856E-4465-8F6C-907B4001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FBFE93D-18D2-4B7B-B09D-4324E12E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4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640606-8198-44FA-B87D-F0354C8F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481B07-07A0-4B5A-9823-DFD5E87F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FB443F-FBEA-4E3E-A2E8-0B0A1C4C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27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9DB39-90A4-4F41-803F-6F1CF375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5DC88-44B6-4C1D-B7CA-7C88E3E7D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0E0D90-EECD-4065-9434-D3BB0438B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5D979C-7BF9-4E57-BCC8-9D6A4A253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8F0D6E-BD5F-44C0-A920-2466FEF3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2F30E9-EEEE-4C3D-92E4-9BB22EAB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0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5ADBF-A312-4934-BA8B-70EA5D96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DDD5DC-DBA0-41FB-AB6B-0DD24D4674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3075E4-CA6F-4386-A20D-2368846F0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165048-EFCC-4B5A-87B3-11DF6B99A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72D835-8A9B-4673-A7CF-D91D2DE5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389D2B-6D6C-4DF1-8D93-61037A92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73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3003-0D08-411C-B807-AD6CABAF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ACDAD3-FB0E-44CA-B832-0E8CF6FB9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FF0B13-4E0C-4C9C-8859-8D7A5E2A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567EB3-976B-4F9D-A613-E5481BCA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B6036F-85E8-4121-A015-38AB06A9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8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B21C18-983E-48EB-BB18-9B193822B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9409B7-1F85-42CC-BBB1-222AD830D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E595AA-20C7-418F-B717-2CB958B7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11679A-ABB6-4C38-BBFF-DE8E02F3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EFB9AC-01AC-4941-ACD3-BFE773686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3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05FEA9-632C-4B22-93B6-0085E036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1DDC21-3203-47FB-9FB6-76FD7FE6C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97DFB4-5CED-424E-BB26-08438623B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925B8-0253-444D-9C8E-E0C9E8C242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1590E5-0965-482F-979E-532BA8EA5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603352-4C8F-4598-95B7-63BDEF6C0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89B93-961F-4066-9579-65BD73543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0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20490-6F47-4940-9F2D-9348D7371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0516"/>
            <a:ext cx="9144000" cy="2387600"/>
          </a:xfrm>
        </p:spPr>
        <p:txBody>
          <a:bodyPr/>
          <a:lstStyle/>
          <a:p>
            <a:r>
              <a:rPr lang="es-ES" dirty="0"/>
              <a:t>GEM </a:t>
            </a:r>
            <a:r>
              <a:rPr lang="es-ES" dirty="0" err="1"/>
              <a:t>assembly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85436B-CDC0-4841-9E0F-D357ED32F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18317"/>
            <a:ext cx="9144000" cy="1655762"/>
          </a:xfrm>
        </p:spPr>
        <p:txBody>
          <a:bodyPr/>
          <a:lstStyle/>
          <a:p>
            <a:r>
              <a:rPr lang="es-ES" dirty="0"/>
              <a:t>Álvaro Ezquerro</a:t>
            </a:r>
          </a:p>
          <a:p>
            <a:r>
              <a:rPr lang="es-ES" dirty="0" err="1"/>
              <a:t>July</a:t>
            </a:r>
            <a:r>
              <a:rPr lang="es-ES" dirty="0"/>
              <a:t> 2025</a:t>
            </a:r>
            <a:endParaRPr lang="en-US" dirty="0"/>
          </a:p>
        </p:txBody>
      </p:sp>
      <p:pic>
        <p:nvPicPr>
          <p:cNvPr id="4" name="Imagen 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4D93BBC1-5BB9-471B-8A3A-3F55775A2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084" y="4511987"/>
            <a:ext cx="2516504" cy="2094990"/>
          </a:xfrm>
          <a:prstGeom prst="rect">
            <a:avLst/>
          </a:prstGeom>
        </p:spPr>
      </p:pic>
      <p:sp>
        <p:nvSpPr>
          <p:cNvPr id="5" name="Bocadillo: ovalado 4">
            <a:extLst>
              <a:ext uri="{FF2B5EF4-FFF2-40B4-BE49-F238E27FC236}">
                <a16:creationId xmlns:a16="http://schemas.microsoft.com/office/drawing/2014/main" id="{584596E3-C6AE-4E57-9FB8-8ECB575344AB}"/>
              </a:ext>
            </a:extLst>
          </p:cNvPr>
          <p:cNvSpPr/>
          <p:nvPr/>
        </p:nvSpPr>
        <p:spPr>
          <a:xfrm>
            <a:off x="4204607" y="4338193"/>
            <a:ext cx="1011790" cy="791936"/>
          </a:xfrm>
          <a:prstGeom prst="wedgeEllipseCallout">
            <a:avLst>
              <a:gd name="adj1" fmla="val 72768"/>
              <a:gd name="adj2" fmla="val 2607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FEF9AE-7522-40B4-8461-FD296EBC8708}"/>
              </a:ext>
            </a:extLst>
          </p:cNvPr>
          <p:cNvSpPr txBox="1"/>
          <p:nvPr/>
        </p:nvSpPr>
        <p:spPr>
          <a:xfrm>
            <a:off x="3714749" y="4441773"/>
            <a:ext cx="1991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latin typeface="Showcard Gothic" panose="04020904020102020604" pitchFamily="82" charset="0"/>
              </a:rPr>
              <a:t>DM</a:t>
            </a:r>
          </a:p>
        </p:txBody>
      </p:sp>
    </p:spTree>
    <p:extLst>
      <p:ext uri="{BB962C8B-B14F-4D97-AF65-F5344CB8AC3E}">
        <p14:creationId xmlns:p14="http://schemas.microsoft.com/office/powerpoint/2010/main" val="2289026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A4B12-0456-48A1-B144-70059D29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/>
              <a:t>GEM </a:t>
            </a:r>
            <a:r>
              <a:rPr lang="es-ES" dirty="0" err="1"/>
              <a:t>generator</a:t>
            </a:r>
            <a:r>
              <a:rPr lang="es-ES" dirty="0"/>
              <a:t> module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6773F9-3171-4754-9F43-F480CA224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836" y="1499053"/>
            <a:ext cx="10515600" cy="4854121"/>
          </a:xfrm>
        </p:spPr>
        <p:txBody>
          <a:bodyPr>
            <a:normAutofit/>
          </a:bodyPr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assembly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generated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function</a:t>
            </a:r>
            <a:r>
              <a:rPr lang="es-ES" dirty="0"/>
              <a:t>:</a:t>
            </a:r>
            <a:r>
              <a:rPr lang="en-US" sz="1100" dirty="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generate_gem_assembly</a:t>
            </a:r>
            <a:r>
              <a:rPr lang="en-US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gem_assembly</a:t>
            </a:r>
            <a:r>
              <a:rPr lang="en-US" sz="18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registry</a:t>
            </a:r>
            <a:r>
              <a:rPr lang="en-US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is_right_side</a:t>
            </a:r>
            <a:r>
              <a:rPr lang="en-US" sz="18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8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endParaRPr lang="en-US" sz="14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endParaRPr lang="es-ES" dirty="0"/>
          </a:p>
          <a:p>
            <a:r>
              <a:rPr lang="es-ES" dirty="0" err="1"/>
              <a:t>It</a:t>
            </a:r>
            <a:r>
              <a:rPr lang="es-ES" dirty="0"/>
              <a:t> can </a:t>
            </a:r>
            <a:r>
              <a:rPr lang="es-ES" dirty="0" err="1"/>
              <a:t>generate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assembly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right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left</a:t>
            </a:r>
            <a:r>
              <a:rPr lang="es-ES" dirty="0"/>
              <a:t> </a:t>
            </a:r>
            <a:r>
              <a:rPr lang="es-ES" dirty="0" err="1"/>
              <a:t>side</a:t>
            </a:r>
            <a:r>
              <a:rPr lang="es-ES" dirty="0"/>
              <a:t>. </a:t>
            </a:r>
            <a:r>
              <a:rPr lang="es-ES" dirty="0" err="1"/>
              <a:t>These</a:t>
            </a:r>
            <a:r>
              <a:rPr lang="es-ES" dirty="0"/>
              <a:t> are </a:t>
            </a:r>
            <a:r>
              <a:rPr lang="es-ES" dirty="0" err="1"/>
              <a:t>mirror</a:t>
            </a:r>
            <a:r>
              <a:rPr lang="es-ES" dirty="0"/>
              <a:t> </a:t>
            </a:r>
            <a:r>
              <a:rPr lang="es-ES" dirty="0" err="1"/>
              <a:t>assemblies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each</a:t>
            </a:r>
            <a:r>
              <a:rPr lang="es-ES" dirty="0"/>
              <a:t> </a:t>
            </a:r>
            <a:r>
              <a:rPr lang="es-ES" dirty="0" err="1"/>
              <a:t>other</a:t>
            </a:r>
            <a:r>
              <a:rPr lang="es-ES" dirty="0"/>
              <a:t>. </a:t>
            </a:r>
            <a:r>
              <a:rPr lang="es-ES" dirty="0" err="1"/>
              <a:t>By</a:t>
            </a:r>
            <a:r>
              <a:rPr lang="es-ES" dirty="0"/>
              <a:t> 180º </a:t>
            </a:r>
            <a:r>
              <a:rPr lang="es-ES" dirty="0" err="1"/>
              <a:t>rotation</a:t>
            </a:r>
            <a:r>
              <a:rPr lang="es-ES" dirty="0"/>
              <a:t> </a:t>
            </a:r>
            <a:r>
              <a:rPr lang="es-ES" dirty="0" err="1"/>
              <a:t>over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X axis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could</a:t>
            </a:r>
            <a:r>
              <a:rPr lang="es-ES" dirty="0"/>
              <a:t> </a:t>
            </a:r>
            <a:r>
              <a:rPr lang="es-ES" dirty="0" err="1"/>
              <a:t>also</a:t>
            </a:r>
            <a:r>
              <a:rPr lang="es-ES" dirty="0"/>
              <a:t> be </a:t>
            </a:r>
            <a:r>
              <a:rPr lang="es-ES" dirty="0" err="1"/>
              <a:t>achieved</a:t>
            </a:r>
            <a:r>
              <a:rPr lang="es-ES" dirty="0"/>
              <a:t> (</a:t>
            </a:r>
            <a:r>
              <a:rPr lang="es-ES" dirty="0" err="1"/>
              <a:t>thanks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its</a:t>
            </a:r>
            <a:r>
              <a:rPr lang="es-ES" dirty="0"/>
              <a:t> </a:t>
            </a:r>
            <a:r>
              <a:rPr lang="es-ES" dirty="0" err="1"/>
              <a:t>symmetry</a:t>
            </a:r>
            <a:r>
              <a:rPr lang="es-ES" dirty="0"/>
              <a:t>) </a:t>
            </a:r>
            <a:r>
              <a:rPr lang="es-ES" dirty="0" err="1"/>
              <a:t>except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gem top &amp; bottom </a:t>
            </a:r>
            <a:r>
              <a:rPr lang="es-ES" dirty="0" err="1"/>
              <a:t>feedthrough</a:t>
            </a:r>
            <a:r>
              <a:rPr lang="es-ES" dirty="0"/>
              <a:t>,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would</a:t>
            </a:r>
            <a:r>
              <a:rPr lang="es-ES" dirty="0"/>
              <a:t> be </a:t>
            </a:r>
            <a:r>
              <a:rPr lang="es-ES" dirty="0" err="1"/>
              <a:t>switched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In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document</a:t>
            </a:r>
            <a:r>
              <a:rPr lang="es-ES" dirty="0"/>
              <a:t>,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right</a:t>
            </a:r>
            <a:r>
              <a:rPr lang="es-ES" dirty="0"/>
              <a:t> </a:t>
            </a:r>
            <a:r>
              <a:rPr lang="es-ES" dirty="0" err="1"/>
              <a:t>side</a:t>
            </a:r>
            <a:r>
              <a:rPr lang="es-ES" dirty="0"/>
              <a:t> </a:t>
            </a:r>
            <a:r>
              <a:rPr lang="es-ES" dirty="0" err="1"/>
              <a:t>assembly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shown</a:t>
            </a:r>
            <a:r>
              <a:rPr lang="es-E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0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59A0-77F2-4A22-AC90-9B1BF027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s-ES" dirty="0" err="1"/>
              <a:t>gemKaptonFoil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330378-ACC1-432B-8A14-54C566402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59" y="1723193"/>
            <a:ext cx="3162300" cy="435133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solid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placed in </a:t>
            </a:r>
            <a:r>
              <a:rPr lang="es-ES" dirty="0" err="1"/>
              <a:t>the</a:t>
            </a:r>
            <a:r>
              <a:rPr lang="es-ES" dirty="0"/>
              <a:t> center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assembly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62C5838-3A2B-45FE-88F7-3F0754AD4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715" y="135394"/>
            <a:ext cx="7425895" cy="67226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08D9C37-3E32-4676-A81E-6797A67CBF3F}"/>
              </a:ext>
            </a:extLst>
          </p:cNvPr>
          <p:cNvSpPr txBox="1"/>
          <p:nvPr/>
        </p:nvSpPr>
        <p:spPr>
          <a:xfrm>
            <a:off x="6544992" y="900607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gemKaptonFoilLength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D9628C-A434-4EF7-885B-07C028206E97}"/>
              </a:ext>
            </a:extLst>
          </p:cNvPr>
          <p:cNvSpPr txBox="1"/>
          <p:nvPr/>
        </p:nvSpPr>
        <p:spPr>
          <a:xfrm rot="2755075">
            <a:off x="5879560" y="2398839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rgbClr val="FFC000"/>
                </a:solidFill>
              </a:rPr>
              <a:t>mmBaseCornerRadius</a:t>
            </a:r>
            <a:endParaRPr lang="en-US" dirty="0">
              <a:solidFill>
                <a:srgbClr val="FFC000"/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534157C-E107-439C-A9B2-FB1B99A859DC}"/>
              </a:ext>
            </a:extLst>
          </p:cNvPr>
          <p:cNvCxnSpPr>
            <a:cxnSpLocks/>
          </p:cNvCxnSpPr>
          <p:nvPr/>
        </p:nvCxnSpPr>
        <p:spPr>
          <a:xfrm flipH="1">
            <a:off x="5863212" y="1250019"/>
            <a:ext cx="4480938" cy="1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19E8A3D-6652-4782-9BC6-85FA3FE275EF}"/>
              </a:ext>
            </a:extLst>
          </p:cNvPr>
          <p:cNvCxnSpPr>
            <a:cxnSpLocks/>
          </p:cNvCxnSpPr>
          <p:nvPr/>
        </p:nvCxnSpPr>
        <p:spPr>
          <a:xfrm flipH="1" flipV="1">
            <a:off x="5984421" y="1513174"/>
            <a:ext cx="2229532" cy="226340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9EFD4D-5D79-4DC7-AEF1-88A57FC0A9F6}"/>
              </a:ext>
            </a:extLst>
          </p:cNvPr>
          <p:cNvSpPr txBox="1"/>
          <p:nvPr/>
        </p:nvSpPr>
        <p:spPr>
          <a:xfrm>
            <a:off x="8823603" y="2690438"/>
            <a:ext cx="3083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gemKaptonFeedthroughLength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37A9C0C-CCDB-42F3-A242-D856A99403DB}"/>
              </a:ext>
            </a:extLst>
          </p:cNvPr>
          <p:cNvCxnSpPr>
            <a:cxnSpLocks/>
          </p:cNvCxnSpPr>
          <p:nvPr/>
        </p:nvCxnSpPr>
        <p:spPr>
          <a:xfrm flipH="1">
            <a:off x="10344151" y="3059770"/>
            <a:ext cx="236763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AEB73F6-1FA4-4C17-8CDA-1DD411A2AD6A}"/>
              </a:ext>
            </a:extLst>
          </p:cNvPr>
          <p:cNvSpPr txBox="1"/>
          <p:nvPr/>
        </p:nvSpPr>
        <p:spPr>
          <a:xfrm>
            <a:off x="10652578" y="3059770"/>
            <a:ext cx="136668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gemKaptonFeedthroughWidth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EEC5E73-FF52-4B52-9E55-873D28CFB14F}"/>
              </a:ext>
            </a:extLst>
          </p:cNvPr>
          <p:cNvCxnSpPr>
            <a:cxnSpLocks/>
          </p:cNvCxnSpPr>
          <p:nvPr/>
        </p:nvCxnSpPr>
        <p:spPr>
          <a:xfrm flipV="1">
            <a:off x="10652578" y="3126921"/>
            <a:ext cx="0" cy="230021"/>
          </a:xfrm>
          <a:prstGeom prst="straightConnector1">
            <a:avLst/>
          </a:prstGeom>
          <a:ln w="1905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95E7E7E-D664-4E2F-8F6C-16473E42FEAE}"/>
              </a:ext>
            </a:extLst>
          </p:cNvPr>
          <p:cNvCxnSpPr>
            <a:cxnSpLocks/>
          </p:cNvCxnSpPr>
          <p:nvPr/>
        </p:nvCxnSpPr>
        <p:spPr>
          <a:xfrm flipH="1" flipV="1">
            <a:off x="10425113" y="3898862"/>
            <a:ext cx="70734" cy="69100"/>
          </a:xfrm>
          <a:prstGeom prst="straightConnector1">
            <a:avLst/>
          </a:prstGeom>
          <a:ln w="127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77F08D2-D8A3-4E49-8C85-A9C3C2130F46}"/>
              </a:ext>
            </a:extLst>
          </p:cNvPr>
          <p:cNvSpPr txBox="1"/>
          <p:nvPr/>
        </p:nvSpPr>
        <p:spPr>
          <a:xfrm>
            <a:off x="10286192" y="4017131"/>
            <a:ext cx="1969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>
                <a:solidFill>
                  <a:srgbClr val="FFC000"/>
                </a:solidFill>
              </a:rPr>
              <a:t>gemCopperFeedthroughInnerRadius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7F6C40D-D7CB-4AC7-907F-B01AF95409CB}"/>
              </a:ext>
            </a:extLst>
          </p:cNvPr>
          <p:cNvSpPr txBox="1"/>
          <p:nvPr/>
        </p:nvSpPr>
        <p:spPr>
          <a:xfrm>
            <a:off x="3129875" y="6007004"/>
            <a:ext cx="285454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gemKaptonFoilThickness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B0F7DBB3-29B9-4CC1-927F-0CBEFE3B29C5}"/>
              </a:ext>
            </a:extLst>
          </p:cNvPr>
          <p:cNvCxnSpPr>
            <a:cxnSpLocks/>
          </p:cNvCxnSpPr>
          <p:nvPr/>
        </p:nvCxnSpPr>
        <p:spPr>
          <a:xfrm flipH="1" flipV="1">
            <a:off x="5716810" y="6142248"/>
            <a:ext cx="315546" cy="156649"/>
          </a:xfrm>
          <a:prstGeom prst="straightConnector1">
            <a:avLst/>
          </a:prstGeom>
          <a:ln w="28575">
            <a:solidFill>
              <a:srgbClr val="0070C0"/>
            </a:solidFill>
            <a:headEnd type="triangle" w="med" len="med"/>
            <a:tailEnd type="triangle" w="med" len="med"/>
          </a:ln>
          <a:scene3d>
            <a:camera prst="isometricBottomDown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73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3EAAE7AA-A474-4B0D-8C2D-CD93D43B7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646" y="341582"/>
            <a:ext cx="3615544" cy="22168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4F1EA98-FF5B-4D2B-A6DF-5C70D400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 err="1"/>
              <a:t>gemTop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20FD36-09A0-453D-BE73-A4ACC700C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98" y="1558819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208487-6D19-46D8-B386-A64E57CEB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049" y="2808476"/>
            <a:ext cx="4343689" cy="381123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1509EFA-C07C-4729-8FC2-257A94D7D2F6}"/>
              </a:ext>
            </a:extLst>
          </p:cNvPr>
          <p:cNvSpPr txBox="1"/>
          <p:nvPr/>
        </p:nvSpPr>
        <p:spPr>
          <a:xfrm>
            <a:off x="4145867" y="2444770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gemCopperFoilLength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FDD2853-1261-4E8F-B688-2A88D7DFFB56}"/>
              </a:ext>
            </a:extLst>
          </p:cNvPr>
          <p:cNvCxnSpPr>
            <a:cxnSpLocks/>
          </p:cNvCxnSpPr>
          <p:nvPr/>
        </p:nvCxnSpPr>
        <p:spPr>
          <a:xfrm flipH="1">
            <a:off x="3770217" y="2808476"/>
            <a:ext cx="365760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5F43D10-DDC7-4045-A47A-A86047E2E4D6}"/>
              </a:ext>
            </a:extLst>
          </p:cNvPr>
          <p:cNvCxnSpPr>
            <a:cxnSpLocks/>
          </p:cNvCxnSpPr>
          <p:nvPr/>
        </p:nvCxnSpPr>
        <p:spPr>
          <a:xfrm flipH="1">
            <a:off x="8457941" y="1325563"/>
            <a:ext cx="1810009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0C3770F-F323-4E42-8A14-5B539C6DC0FA}"/>
              </a:ext>
            </a:extLst>
          </p:cNvPr>
          <p:cNvCxnSpPr>
            <a:cxnSpLocks/>
          </p:cNvCxnSpPr>
          <p:nvPr/>
        </p:nvCxnSpPr>
        <p:spPr>
          <a:xfrm flipV="1">
            <a:off x="10686798" y="1315785"/>
            <a:ext cx="260602" cy="21884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C3811F5-CF2C-4924-A5CD-06CB6577C6A9}"/>
              </a:ext>
            </a:extLst>
          </p:cNvPr>
          <p:cNvSpPr txBox="1"/>
          <p:nvPr/>
        </p:nvSpPr>
        <p:spPr>
          <a:xfrm>
            <a:off x="11022134" y="1055876"/>
            <a:ext cx="1231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rgbClr val="FFC000"/>
                </a:solidFill>
              </a:rPr>
              <a:t>gemCopperFeedthroughInnerRadius</a:t>
            </a:r>
            <a:endParaRPr lang="en-US" sz="1200" dirty="0">
              <a:solidFill>
                <a:srgbClr val="FFC000"/>
              </a:solidFill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4FEA03A-C9A6-4116-8353-14D01864F1CC}"/>
              </a:ext>
            </a:extLst>
          </p:cNvPr>
          <p:cNvCxnSpPr>
            <a:cxnSpLocks/>
          </p:cNvCxnSpPr>
          <p:nvPr/>
        </p:nvCxnSpPr>
        <p:spPr>
          <a:xfrm flipH="1">
            <a:off x="10296525" y="1534632"/>
            <a:ext cx="390273" cy="0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D581C4-3884-4A91-A905-B43AB906D870}"/>
              </a:ext>
            </a:extLst>
          </p:cNvPr>
          <p:cNvSpPr txBox="1"/>
          <p:nvPr/>
        </p:nvSpPr>
        <p:spPr>
          <a:xfrm>
            <a:off x="9082154" y="1547635"/>
            <a:ext cx="1715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rgbClr val="FFC000"/>
                </a:solidFill>
              </a:rPr>
              <a:t>gemCopperFeedthroughOuterRadius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CE38CC6-FC46-429B-8A01-C4022A32D5ED}"/>
              </a:ext>
            </a:extLst>
          </p:cNvPr>
          <p:cNvSpPr txBox="1"/>
          <p:nvPr/>
        </p:nvSpPr>
        <p:spPr>
          <a:xfrm>
            <a:off x="7732104" y="1014599"/>
            <a:ext cx="3372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err="1">
                <a:solidFill>
                  <a:srgbClr val="FF0000"/>
                </a:solidFill>
              </a:rPr>
              <a:t>gemCopperFeedthroughLength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E8A22D2-0FD7-4F67-9E7F-B8414AFBFBD0}"/>
              </a:ext>
            </a:extLst>
          </p:cNvPr>
          <p:cNvSpPr txBox="1"/>
          <p:nvPr/>
        </p:nvSpPr>
        <p:spPr>
          <a:xfrm>
            <a:off x="7820018" y="1365091"/>
            <a:ext cx="141226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gemCopperFeedthroughWidth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A572FFE-42FC-4597-8E96-10FA18B04F6B}"/>
              </a:ext>
            </a:extLst>
          </p:cNvPr>
          <p:cNvCxnSpPr>
            <a:cxnSpLocks/>
          </p:cNvCxnSpPr>
          <p:nvPr/>
        </p:nvCxnSpPr>
        <p:spPr>
          <a:xfrm flipV="1">
            <a:off x="9246308" y="1441342"/>
            <a:ext cx="0" cy="169236"/>
          </a:xfrm>
          <a:prstGeom prst="straightConnector1">
            <a:avLst/>
          </a:prstGeom>
          <a:ln w="1905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6133EF7-0F3C-40E6-87AB-09F47F151BD9}"/>
              </a:ext>
            </a:extLst>
          </p:cNvPr>
          <p:cNvSpPr/>
          <p:nvPr/>
        </p:nvSpPr>
        <p:spPr>
          <a:xfrm>
            <a:off x="7176407" y="4714094"/>
            <a:ext cx="963386" cy="682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6B2A584-DAA8-4AD2-BCC0-3C7FB6B51167}"/>
              </a:ext>
            </a:extLst>
          </p:cNvPr>
          <p:cNvCxnSpPr/>
          <p:nvPr/>
        </p:nvCxnSpPr>
        <p:spPr>
          <a:xfrm flipV="1">
            <a:off x="8139793" y="2548121"/>
            <a:ext cx="3379397" cy="28598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DD1EF1B-31B0-443D-A94E-F0CDBF8E8B9C}"/>
              </a:ext>
            </a:extLst>
          </p:cNvPr>
          <p:cNvCxnSpPr>
            <a:cxnSpLocks/>
          </p:cNvCxnSpPr>
          <p:nvPr/>
        </p:nvCxnSpPr>
        <p:spPr>
          <a:xfrm flipV="1">
            <a:off x="7176407" y="360066"/>
            <a:ext cx="727239" cy="43508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DE77061-5EF4-4A3E-ABC1-90F4B3EB6C18}"/>
              </a:ext>
            </a:extLst>
          </p:cNvPr>
          <p:cNvSpPr txBox="1"/>
          <p:nvPr/>
        </p:nvSpPr>
        <p:spPr>
          <a:xfrm>
            <a:off x="534177" y="6325662"/>
            <a:ext cx="285454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gemCopperFoilThickness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20E3F68F-9C9B-4335-B825-49CB654869B0}"/>
              </a:ext>
            </a:extLst>
          </p:cNvPr>
          <p:cNvCxnSpPr>
            <a:cxnSpLocks/>
          </p:cNvCxnSpPr>
          <p:nvPr/>
        </p:nvCxnSpPr>
        <p:spPr>
          <a:xfrm flipH="1" flipV="1">
            <a:off x="3230950" y="6460906"/>
            <a:ext cx="315546" cy="156649"/>
          </a:xfrm>
          <a:prstGeom prst="straightConnector1">
            <a:avLst/>
          </a:prstGeom>
          <a:ln w="28575">
            <a:solidFill>
              <a:srgbClr val="0070C0"/>
            </a:solidFill>
            <a:headEnd type="triangle" w="med" len="med"/>
            <a:tailEnd type="triangle" w="med" len="med"/>
          </a:ln>
          <a:scene3d>
            <a:camera prst="isometricBottomDown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128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3EAAE7AA-A474-4B0D-8C2D-CD93D43B7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646" y="341582"/>
            <a:ext cx="3615544" cy="22168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4F1EA98-FF5B-4D2B-A6DF-5C70D400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 err="1"/>
              <a:t>gemBottom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20FD36-09A0-453D-BE73-A4ACC700C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98" y="1558819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208487-6D19-46D8-B386-A64E57CEB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24943" y="2784916"/>
            <a:ext cx="4365082" cy="383479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1509EFA-C07C-4729-8FC2-257A94D7D2F6}"/>
              </a:ext>
            </a:extLst>
          </p:cNvPr>
          <p:cNvSpPr txBox="1"/>
          <p:nvPr/>
        </p:nvSpPr>
        <p:spPr>
          <a:xfrm>
            <a:off x="4145867" y="2444770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gemCopperFoilLength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FDD2853-1261-4E8F-B688-2A88D7DFFB56}"/>
              </a:ext>
            </a:extLst>
          </p:cNvPr>
          <p:cNvCxnSpPr>
            <a:cxnSpLocks/>
          </p:cNvCxnSpPr>
          <p:nvPr/>
        </p:nvCxnSpPr>
        <p:spPr>
          <a:xfrm flipH="1">
            <a:off x="3770217" y="2808476"/>
            <a:ext cx="365760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5F43D10-DDC7-4045-A47A-A86047E2E4D6}"/>
              </a:ext>
            </a:extLst>
          </p:cNvPr>
          <p:cNvCxnSpPr>
            <a:cxnSpLocks/>
          </p:cNvCxnSpPr>
          <p:nvPr/>
        </p:nvCxnSpPr>
        <p:spPr>
          <a:xfrm flipH="1">
            <a:off x="8457941" y="1325563"/>
            <a:ext cx="1810009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0C3770F-F323-4E42-8A14-5B539C6DC0FA}"/>
              </a:ext>
            </a:extLst>
          </p:cNvPr>
          <p:cNvCxnSpPr>
            <a:cxnSpLocks/>
          </p:cNvCxnSpPr>
          <p:nvPr/>
        </p:nvCxnSpPr>
        <p:spPr>
          <a:xfrm flipV="1">
            <a:off x="10686798" y="1315785"/>
            <a:ext cx="260602" cy="218847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C3811F5-CF2C-4924-A5CD-06CB6577C6A9}"/>
              </a:ext>
            </a:extLst>
          </p:cNvPr>
          <p:cNvSpPr txBox="1"/>
          <p:nvPr/>
        </p:nvSpPr>
        <p:spPr>
          <a:xfrm>
            <a:off x="11022134" y="1055876"/>
            <a:ext cx="1231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rgbClr val="FFC000"/>
                </a:solidFill>
              </a:rPr>
              <a:t>gemCopperFeedthroughInnerRadius</a:t>
            </a:r>
            <a:endParaRPr lang="en-US" sz="1200" dirty="0">
              <a:solidFill>
                <a:srgbClr val="FFC000"/>
              </a:solidFill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4FEA03A-C9A6-4116-8353-14D01864F1CC}"/>
              </a:ext>
            </a:extLst>
          </p:cNvPr>
          <p:cNvCxnSpPr>
            <a:cxnSpLocks/>
          </p:cNvCxnSpPr>
          <p:nvPr/>
        </p:nvCxnSpPr>
        <p:spPr>
          <a:xfrm flipH="1">
            <a:off x="10296525" y="1534632"/>
            <a:ext cx="390273" cy="0"/>
          </a:xfrm>
          <a:prstGeom prst="straightConnector1">
            <a:avLst/>
          </a:prstGeom>
          <a:ln w="190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D581C4-3884-4A91-A905-B43AB906D870}"/>
              </a:ext>
            </a:extLst>
          </p:cNvPr>
          <p:cNvSpPr txBox="1"/>
          <p:nvPr/>
        </p:nvSpPr>
        <p:spPr>
          <a:xfrm>
            <a:off x="9082154" y="1547635"/>
            <a:ext cx="1715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rgbClr val="FFC000"/>
                </a:solidFill>
              </a:rPr>
              <a:t>gemCopperFeedthroughOuterRadius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CE38CC6-FC46-429B-8A01-C4022A32D5ED}"/>
              </a:ext>
            </a:extLst>
          </p:cNvPr>
          <p:cNvSpPr txBox="1"/>
          <p:nvPr/>
        </p:nvSpPr>
        <p:spPr>
          <a:xfrm>
            <a:off x="7732104" y="1014599"/>
            <a:ext cx="3372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err="1">
                <a:solidFill>
                  <a:srgbClr val="FF0000"/>
                </a:solidFill>
              </a:rPr>
              <a:t>gemCopperFeedthroughLength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E8A22D2-0FD7-4F67-9E7F-B8414AFBFBD0}"/>
              </a:ext>
            </a:extLst>
          </p:cNvPr>
          <p:cNvSpPr txBox="1"/>
          <p:nvPr/>
        </p:nvSpPr>
        <p:spPr>
          <a:xfrm>
            <a:off x="7820018" y="1365091"/>
            <a:ext cx="141226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gemCopperFeedthroughWidth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A572FFE-42FC-4597-8E96-10FA18B04F6B}"/>
              </a:ext>
            </a:extLst>
          </p:cNvPr>
          <p:cNvCxnSpPr>
            <a:cxnSpLocks/>
          </p:cNvCxnSpPr>
          <p:nvPr/>
        </p:nvCxnSpPr>
        <p:spPr>
          <a:xfrm flipV="1">
            <a:off x="9246308" y="1441342"/>
            <a:ext cx="0" cy="169236"/>
          </a:xfrm>
          <a:prstGeom prst="straightConnector1">
            <a:avLst/>
          </a:prstGeom>
          <a:ln w="1905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6133EF7-0F3C-40E6-87AB-09F47F151BD9}"/>
              </a:ext>
            </a:extLst>
          </p:cNvPr>
          <p:cNvSpPr/>
          <p:nvPr/>
        </p:nvSpPr>
        <p:spPr>
          <a:xfrm>
            <a:off x="7176407" y="4065000"/>
            <a:ext cx="963386" cy="682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16B2A584-DAA8-4AD2-BCC0-3C7FB6B51167}"/>
              </a:ext>
            </a:extLst>
          </p:cNvPr>
          <p:cNvCxnSpPr>
            <a:cxnSpLocks/>
          </p:cNvCxnSpPr>
          <p:nvPr/>
        </p:nvCxnSpPr>
        <p:spPr>
          <a:xfrm flipV="1">
            <a:off x="8152469" y="2548122"/>
            <a:ext cx="3366721" cy="21993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DD1EF1B-31B0-443D-A94E-F0CDBF8E8B9C}"/>
              </a:ext>
            </a:extLst>
          </p:cNvPr>
          <p:cNvCxnSpPr>
            <a:cxnSpLocks/>
          </p:cNvCxnSpPr>
          <p:nvPr/>
        </p:nvCxnSpPr>
        <p:spPr>
          <a:xfrm flipV="1">
            <a:off x="7162383" y="360066"/>
            <a:ext cx="741263" cy="36894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C2BD5EA-C01F-43AB-84FF-04109EEBAC14}"/>
              </a:ext>
            </a:extLst>
          </p:cNvPr>
          <p:cNvSpPr txBox="1"/>
          <p:nvPr/>
        </p:nvSpPr>
        <p:spPr>
          <a:xfrm>
            <a:off x="7427817" y="4456468"/>
            <a:ext cx="308778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gemDistanceBetweenFeedThroughs</a:t>
            </a:r>
            <a:r>
              <a:rPr lang="es-ES" sz="1400" dirty="0">
                <a:solidFill>
                  <a:srgbClr val="00B050"/>
                </a:solidFill>
              </a:rPr>
              <a:t>/2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0899AAE-8BE1-4743-AE08-3E5CFFE59EFA}"/>
              </a:ext>
            </a:extLst>
          </p:cNvPr>
          <p:cNvCxnSpPr>
            <a:cxnSpLocks/>
          </p:cNvCxnSpPr>
          <p:nvPr/>
        </p:nvCxnSpPr>
        <p:spPr>
          <a:xfrm flipV="1">
            <a:off x="3690707" y="2930463"/>
            <a:ext cx="0" cy="1962000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EA21192A-DDC2-44AD-AADF-20679DF6DB9D}"/>
              </a:ext>
            </a:extLst>
          </p:cNvPr>
          <p:cNvCxnSpPr>
            <a:cxnSpLocks/>
          </p:cNvCxnSpPr>
          <p:nvPr/>
        </p:nvCxnSpPr>
        <p:spPr>
          <a:xfrm flipV="1">
            <a:off x="7495297" y="4441371"/>
            <a:ext cx="0" cy="451092"/>
          </a:xfrm>
          <a:prstGeom prst="straightConnector1">
            <a:avLst/>
          </a:prstGeom>
          <a:ln w="1905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12BC570-3FB0-4A3E-8202-D4CA03D34292}"/>
              </a:ext>
            </a:extLst>
          </p:cNvPr>
          <p:cNvSpPr txBox="1"/>
          <p:nvPr/>
        </p:nvSpPr>
        <p:spPr>
          <a:xfrm>
            <a:off x="1779816" y="3880685"/>
            <a:ext cx="199040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gemCopperFoilLength</a:t>
            </a:r>
            <a:r>
              <a:rPr lang="es-ES" sz="1400" dirty="0">
                <a:solidFill>
                  <a:srgbClr val="00B050"/>
                </a:solidFill>
              </a:rPr>
              <a:t>/2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44600ED-F911-44AF-A5DE-943F134ED56F}"/>
              </a:ext>
            </a:extLst>
          </p:cNvPr>
          <p:cNvSpPr txBox="1"/>
          <p:nvPr/>
        </p:nvSpPr>
        <p:spPr>
          <a:xfrm>
            <a:off x="534177" y="6325662"/>
            <a:ext cx="285454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gemCopperFoilThickness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EF6350E-E10A-498A-89E0-6A46C2371F5C}"/>
              </a:ext>
            </a:extLst>
          </p:cNvPr>
          <p:cNvCxnSpPr>
            <a:cxnSpLocks/>
          </p:cNvCxnSpPr>
          <p:nvPr/>
        </p:nvCxnSpPr>
        <p:spPr>
          <a:xfrm flipH="1" flipV="1">
            <a:off x="3230950" y="6460906"/>
            <a:ext cx="315546" cy="156649"/>
          </a:xfrm>
          <a:prstGeom prst="straightConnector1">
            <a:avLst/>
          </a:prstGeom>
          <a:ln w="28575">
            <a:solidFill>
              <a:srgbClr val="0070C0"/>
            </a:solidFill>
            <a:headEnd type="triangle" w="med" len="med"/>
            <a:tailEnd type="triangle" w="med" len="med"/>
          </a:ln>
          <a:scene3d>
            <a:camera prst="isometricBottomDown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53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A81D0-2C95-4068-A61B-697BBD178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225"/>
            <a:ext cx="10515600" cy="1325563"/>
          </a:xfrm>
        </p:spPr>
        <p:txBody>
          <a:bodyPr/>
          <a:lstStyle/>
          <a:p>
            <a:r>
              <a:rPr lang="es-ES" dirty="0" err="1"/>
              <a:t>gemFrame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972ABE-521C-4326-81B1-9A4B7BC65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FB9A242-2C90-4509-8323-CD003144F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243" y="463209"/>
            <a:ext cx="6846263" cy="637256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EA37908-7790-4BBC-A7B4-31BA370D431B}"/>
              </a:ext>
            </a:extLst>
          </p:cNvPr>
          <p:cNvSpPr txBox="1"/>
          <p:nvPr/>
        </p:nvSpPr>
        <p:spPr>
          <a:xfrm>
            <a:off x="4602863" y="864360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gemFrameLength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DB2C10-51CD-49B6-BAC8-ADC33D160B96}"/>
              </a:ext>
            </a:extLst>
          </p:cNvPr>
          <p:cNvSpPr txBox="1"/>
          <p:nvPr/>
        </p:nvSpPr>
        <p:spPr>
          <a:xfrm rot="2716065">
            <a:off x="3832901" y="2411442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rgbClr val="FFC000"/>
                </a:solidFill>
              </a:rPr>
              <a:t>mmBaseCornerRadius</a:t>
            </a:r>
            <a:endParaRPr lang="en-US" dirty="0">
              <a:solidFill>
                <a:srgbClr val="FFC000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FCB0D34-710D-473B-8FBE-F0190A4B7594}"/>
              </a:ext>
            </a:extLst>
          </p:cNvPr>
          <p:cNvCxnSpPr>
            <a:cxnSpLocks/>
          </p:cNvCxnSpPr>
          <p:nvPr/>
        </p:nvCxnSpPr>
        <p:spPr>
          <a:xfrm flipH="1">
            <a:off x="3635969" y="1233692"/>
            <a:ext cx="4716096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E80D102-F04E-4B44-8EA8-867200A622DF}"/>
              </a:ext>
            </a:extLst>
          </p:cNvPr>
          <p:cNvCxnSpPr>
            <a:cxnSpLocks/>
          </p:cNvCxnSpPr>
          <p:nvPr/>
        </p:nvCxnSpPr>
        <p:spPr>
          <a:xfrm flipH="1" flipV="1">
            <a:off x="3804558" y="1444629"/>
            <a:ext cx="2214816" cy="2204864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938F6EB-B6CF-47E1-A7D6-02328322DB41}"/>
              </a:ext>
            </a:extLst>
          </p:cNvPr>
          <p:cNvSpPr txBox="1"/>
          <p:nvPr/>
        </p:nvSpPr>
        <p:spPr>
          <a:xfrm>
            <a:off x="3865719" y="3943731"/>
            <a:ext cx="4215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 err="1">
                <a:solidFill>
                  <a:srgbClr val="FF0000"/>
                </a:solidFill>
              </a:rPr>
              <a:t>gemFrameLength</a:t>
            </a:r>
            <a:r>
              <a:rPr lang="es-ES" sz="1600" dirty="0">
                <a:solidFill>
                  <a:srgbClr val="FF0000"/>
                </a:solidFill>
              </a:rPr>
              <a:t> - 2*</a:t>
            </a:r>
            <a:r>
              <a:rPr lang="es-ES" sz="1600" dirty="0" err="1">
                <a:solidFill>
                  <a:srgbClr val="FF0000"/>
                </a:solidFill>
              </a:rPr>
              <a:t>gemFrameWidth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BD96DC1-70B7-4C6C-83AA-79B848F0B9B3}"/>
              </a:ext>
            </a:extLst>
          </p:cNvPr>
          <p:cNvCxnSpPr>
            <a:cxnSpLocks/>
          </p:cNvCxnSpPr>
          <p:nvPr/>
        </p:nvCxnSpPr>
        <p:spPr>
          <a:xfrm flipH="1">
            <a:off x="3865719" y="3913763"/>
            <a:ext cx="4215836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B143283-373C-4526-881A-1C792546A63E}"/>
              </a:ext>
            </a:extLst>
          </p:cNvPr>
          <p:cNvCxnSpPr>
            <a:cxnSpLocks/>
          </p:cNvCxnSpPr>
          <p:nvPr/>
        </p:nvCxnSpPr>
        <p:spPr>
          <a:xfrm flipV="1">
            <a:off x="7832268" y="1284398"/>
            <a:ext cx="0" cy="198653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0628637-5F5E-4397-8D7A-15AF01C7808E}"/>
              </a:ext>
            </a:extLst>
          </p:cNvPr>
          <p:cNvSpPr txBox="1"/>
          <p:nvPr/>
        </p:nvSpPr>
        <p:spPr>
          <a:xfrm>
            <a:off x="6155299" y="1229835"/>
            <a:ext cx="199040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gemFrameWidth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9CD489D-00A0-4401-A782-97DE2540B45D}"/>
              </a:ext>
            </a:extLst>
          </p:cNvPr>
          <p:cNvSpPr txBox="1"/>
          <p:nvPr/>
        </p:nvSpPr>
        <p:spPr>
          <a:xfrm>
            <a:off x="1589742" y="6122053"/>
            <a:ext cx="22148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gemFrameThickness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5528BFB-D1ED-4E0F-BFD5-BCC0F7A35A42}"/>
              </a:ext>
            </a:extLst>
          </p:cNvPr>
          <p:cNvCxnSpPr>
            <a:cxnSpLocks/>
          </p:cNvCxnSpPr>
          <p:nvPr/>
        </p:nvCxnSpPr>
        <p:spPr>
          <a:xfrm flipH="1" flipV="1">
            <a:off x="3646785" y="6257297"/>
            <a:ext cx="315546" cy="156649"/>
          </a:xfrm>
          <a:prstGeom prst="straightConnector1">
            <a:avLst/>
          </a:prstGeom>
          <a:ln w="28575">
            <a:solidFill>
              <a:srgbClr val="0070C0"/>
            </a:solidFill>
            <a:headEnd type="triangle" w="med" len="med"/>
            <a:tailEnd type="triangle" w="med" len="med"/>
          </a:ln>
          <a:scene3d>
            <a:camera prst="isometricBottomDown"/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n 26">
            <a:extLst>
              <a:ext uri="{FF2B5EF4-FFF2-40B4-BE49-F238E27FC236}">
                <a16:creationId xmlns:a16="http://schemas.microsoft.com/office/drawing/2014/main" id="{5E8CE916-6CAD-4E7B-B9C0-97AFD761F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9268" y="230570"/>
            <a:ext cx="2000498" cy="626081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B4524F2-34A1-4428-B4D1-D5C50B32BB41}"/>
              </a:ext>
            </a:extLst>
          </p:cNvPr>
          <p:cNvCxnSpPr>
            <a:cxnSpLocks/>
          </p:cNvCxnSpPr>
          <p:nvPr/>
        </p:nvCxnSpPr>
        <p:spPr>
          <a:xfrm flipV="1">
            <a:off x="10886032" y="587686"/>
            <a:ext cx="0" cy="1237939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B19C0CE-FB76-4F0C-ABD6-B7963C85DFFA}"/>
              </a:ext>
            </a:extLst>
          </p:cNvPr>
          <p:cNvSpPr txBox="1"/>
          <p:nvPr/>
        </p:nvSpPr>
        <p:spPr>
          <a:xfrm>
            <a:off x="8918221" y="968225"/>
            <a:ext cx="180889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sz="1400" dirty="0" err="1">
                <a:solidFill>
                  <a:srgbClr val="00B050"/>
                </a:solidFill>
              </a:rPr>
              <a:t>gemFrameIndentationLength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0177BDA4-F58E-4C66-BF65-C53E3555E0DB}"/>
              </a:ext>
            </a:extLst>
          </p:cNvPr>
          <p:cNvCxnSpPr>
            <a:cxnSpLocks/>
          </p:cNvCxnSpPr>
          <p:nvPr/>
        </p:nvCxnSpPr>
        <p:spPr>
          <a:xfrm flipH="1">
            <a:off x="10551357" y="513215"/>
            <a:ext cx="351517" cy="0"/>
          </a:xfrm>
          <a:prstGeom prst="straightConnector1">
            <a:avLst/>
          </a:prstGeom>
          <a:ln w="12700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5A63D1A-92B4-4322-AFD3-49E8C0DED8C6}"/>
              </a:ext>
            </a:extLst>
          </p:cNvPr>
          <p:cNvSpPr txBox="1"/>
          <p:nvPr/>
        </p:nvSpPr>
        <p:spPr>
          <a:xfrm>
            <a:off x="9592176" y="230570"/>
            <a:ext cx="271846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70C0"/>
                </a:solidFill>
              </a:rPr>
              <a:t>gemFrameIndentationDepth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5A0D1346-BA4D-48F6-9D1B-00D293EC5395}"/>
              </a:ext>
            </a:extLst>
          </p:cNvPr>
          <p:cNvCxnSpPr>
            <a:cxnSpLocks/>
          </p:cNvCxnSpPr>
          <p:nvPr/>
        </p:nvCxnSpPr>
        <p:spPr>
          <a:xfrm>
            <a:off x="10951407" y="513215"/>
            <a:ext cx="334675" cy="0"/>
          </a:xfrm>
          <a:prstGeom prst="straightConnector1">
            <a:avLst/>
          </a:prstGeom>
          <a:ln w="12700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4C1AB0A-88C2-47A5-A2BF-41418363E7BC}"/>
              </a:ext>
            </a:extLst>
          </p:cNvPr>
          <p:cNvSpPr txBox="1"/>
          <p:nvPr/>
        </p:nvSpPr>
        <p:spPr>
          <a:xfrm rot="20357782">
            <a:off x="9369112" y="1971751"/>
            <a:ext cx="2767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FF0000"/>
                </a:solidFill>
              </a:rPr>
              <a:t>gemFrameWidth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9A03D96E-A368-4A23-8BAB-47631A682E5A}"/>
              </a:ext>
            </a:extLst>
          </p:cNvPr>
          <p:cNvCxnSpPr>
            <a:cxnSpLocks/>
          </p:cNvCxnSpPr>
          <p:nvPr/>
        </p:nvCxnSpPr>
        <p:spPr>
          <a:xfrm flipH="1">
            <a:off x="10602032" y="1938437"/>
            <a:ext cx="301854" cy="116048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C1E29C58-2137-4D83-A567-44E7B0E16C04}"/>
              </a:ext>
            </a:extLst>
          </p:cNvPr>
          <p:cNvSpPr/>
          <p:nvPr/>
        </p:nvSpPr>
        <p:spPr>
          <a:xfrm>
            <a:off x="7854525" y="3030985"/>
            <a:ext cx="534087" cy="1356360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isometricOffAxis1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C406D446-1D40-45DB-BBCD-1A72DCB30C20}"/>
              </a:ext>
            </a:extLst>
          </p:cNvPr>
          <p:cNvCxnSpPr>
            <a:cxnSpLocks/>
          </p:cNvCxnSpPr>
          <p:nvPr/>
        </p:nvCxnSpPr>
        <p:spPr>
          <a:xfrm>
            <a:off x="7988384" y="4282285"/>
            <a:ext cx="2015039" cy="2209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1FC18E00-E3C0-4B06-AE4C-62D9981A6955}"/>
              </a:ext>
            </a:extLst>
          </p:cNvPr>
          <p:cNvCxnSpPr>
            <a:cxnSpLocks/>
          </p:cNvCxnSpPr>
          <p:nvPr/>
        </p:nvCxnSpPr>
        <p:spPr>
          <a:xfrm flipV="1">
            <a:off x="7988384" y="230570"/>
            <a:ext cx="2015039" cy="27717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36A666C-3515-4494-844B-DD2D5DB38D1A}"/>
              </a:ext>
            </a:extLst>
          </p:cNvPr>
          <p:cNvSpPr txBox="1"/>
          <p:nvPr/>
        </p:nvSpPr>
        <p:spPr>
          <a:xfrm>
            <a:off x="9576365" y="6427643"/>
            <a:ext cx="2446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i="1" dirty="0"/>
              <a:t>*</a:t>
            </a:r>
            <a:r>
              <a:rPr lang="es-ES" sz="1200" i="1" dirty="0" err="1"/>
              <a:t>Indentation</a:t>
            </a:r>
            <a:r>
              <a:rPr lang="es-ES" sz="1200" i="1" dirty="0"/>
              <a:t> </a:t>
            </a:r>
            <a:r>
              <a:rPr lang="es-ES" sz="1200" i="1" dirty="0" err="1"/>
              <a:t>is</a:t>
            </a:r>
            <a:r>
              <a:rPr lang="es-ES" sz="1200" i="1" dirty="0"/>
              <a:t> </a:t>
            </a:r>
            <a:r>
              <a:rPr lang="es-ES" sz="1200" i="1" dirty="0" err="1"/>
              <a:t>needed</a:t>
            </a:r>
            <a:r>
              <a:rPr lang="es-ES" sz="1200" i="1" dirty="0"/>
              <a:t> </a:t>
            </a:r>
            <a:r>
              <a:rPr lang="es-ES" sz="1200" i="1" dirty="0" err="1"/>
              <a:t>to</a:t>
            </a:r>
            <a:r>
              <a:rPr lang="es-ES" sz="1200" i="1" dirty="0"/>
              <a:t> </a:t>
            </a:r>
            <a:r>
              <a:rPr lang="es-ES" sz="1200" i="1" dirty="0" err="1"/>
              <a:t>avoid</a:t>
            </a:r>
            <a:r>
              <a:rPr lang="es-ES" sz="1200" i="1" dirty="0"/>
              <a:t> </a:t>
            </a:r>
            <a:r>
              <a:rPr lang="es-ES" sz="1200" i="1" dirty="0" err="1"/>
              <a:t>overlap</a:t>
            </a:r>
            <a:r>
              <a:rPr lang="es-ES" sz="1200" i="1" dirty="0"/>
              <a:t> </a:t>
            </a:r>
            <a:r>
              <a:rPr lang="es-ES" sz="1200" i="1" dirty="0" err="1"/>
              <a:t>with</a:t>
            </a:r>
            <a:r>
              <a:rPr lang="es-ES" sz="1200" i="1" dirty="0"/>
              <a:t> </a:t>
            </a:r>
            <a:r>
              <a:rPr lang="es-ES" sz="1200" i="1" dirty="0" err="1"/>
              <a:t>the</a:t>
            </a:r>
            <a:r>
              <a:rPr lang="es-ES" sz="1200" i="1" dirty="0"/>
              <a:t> </a:t>
            </a:r>
            <a:r>
              <a:rPr lang="es-ES" sz="1200" i="1" dirty="0" err="1"/>
              <a:t>feedthroughs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518399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0F62D-BF10-421B-A4C2-5814B622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 err="1"/>
              <a:t>gemmMSeparator</a:t>
            </a:r>
            <a:r>
              <a:rPr lang="es-ES" dirty="0"/>
              <a:t> &amp; </a:t>
            </a:r>
            <a:r>
              <a:rPr lang="es-ES" dirty="0" err="1"/>
              <a:t>gemmMSeparatorFixer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8A1DA5-6BFF-44B1-9824-83C8A1762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28" y="2225040"/>
            <a:ext cx="9392235" cy="352350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BE64BD6-6894-4141-91B1-D8EF5F191482}"/>
              </a:ext>
            </a:extLst>
          </p:cNvPr>
          <p:cNvSpPr txBox="1"/>
          <p:nvPr/>
        </p:nvSpPr>
        <p:spPr>
          <a:xfrm rot="475351">
            <a:off x="3711526" y="4477122"/>
            <a:ext cx="276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gemmMSeparatorLength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A67A747-C969-456C-8ECE-5ACDA8DD957C}"/>
              </a:ext>
            </a:extLst>
          </p:cNvPr>
          <p:cNvCxnSpPr>
            <a:cxnSpLocks/>
          </p:cNvCxnSpPr>
          <p:nvPr/>
        </p:nvCxnSpPr>
        <p:spPr>
          <a:xfrm flipH="1" flipV="1">
            <a:off x="2177637" y="4149596"/>
            <a:ext cx="7743603" cy="1024384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50CFF1A-AF49-456D-8446-1D52D718D4DB}"/>
              </a:ext>
            </a:extLst>
          </p:cNvPr>
          <p:cNvCxnSpPr>
            <a:cxnSpLocks/>
          </p:cNvCxnSpPr>
          <p:nvPr/>
        </p:nvCxnSpPr>
        <p:spPr>
          <a:xfrm flipV="1">
            <a:off x="2118664" y="3337561"/>
            <a:ext cx="0" cy="662939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AB8D116-7CB3-45A8-AA14-7FF9EFCB359C}"/>
              </a:ext>
            </a:extLst>
          </p:cNvPr>
          <p:cNvSpPr txBox="1"/>
          <p:nvPr/>
        </p:nvSpPr>
        <p:spPr>
          <a:xfrm>
            <a:off x="187236" y="3515141"/>
            <a:ext cx="199040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gemmMSeparatorWidth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1A0520-5E74-4DFC-978A-C3998314191F}"/>
              </a:ext>
            </a:extLst>
          </p:cNvPr>
          <p:cNvSpPr txBox="1"/>
          <p:nvPr/>
        </p:nvSpPr>
        <p:spPr>
          <a:xfrm>
            <a:off x="9709047" y="5177492"/>
            <a:ext cx="19403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0070C0"/>
                </a:solidFill>
              </a:rPr>
              <a:t>gemmMSeparatorThickness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FE1E5CA5-50FF-4E2E-89DC-2D9C2AE2BDF2}"/>
              </a:ext>
            </a:extLst>
          </p:cNvPr>
          <p:cNvCxnSpPr>
            <a:cxnSpLocks/>
          </p:cNvCxnSpPr>
          <p:nvPr/>
        </p:nvCxnSpPr>
        <p:spPr>
          <a:xfrm flipH="1">
            <a:off x="10014364" y="5090160"/>
            <a:ext cx="257396" cy="67541"/>
          </a:xfrm>
          <a:prstGeom prst="straightConnector1">
            <a:avLst/>
          </a:prstGeom>
          <a:ln w="28575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3F807B7-107E-4CEA-8716-86D76EE2C49E}"/>
              </a:ext>
            </a:extLst>
          </p:cNvPr>
          <p:cNvSpPr txBox="1"/>
          <p:nvPr/>
        </p:nvSpPr>
        <p:spPr>
          <a:xfrm rot="204762">
            <a:off x="6893002" y="3915854"/>
            <a:ext cx="3375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FF0000"/>
                </a:solidFill>
              </a:rPr>
              <a:t>gemmMSeparatorExtensionWidth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13D34A53-DF47-4776-B842-10F0E9B8933D}"/>
              </a:ext>
            </a:extLst>
          </p:cNvPr>
          <p:cNvCxnSpPr>
            <a:cxnSpLocks/>
          </p:cNvCxnSpPr>
          <p:nvPr/>
        </p:nvCxnSpPr>
        <p:spPr>
          <a:xfrm flipH="1" flipV="1">
            <a:off x="7399022" y="3878122"/>
            <a:ext cx="449578" cy="34986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4A228405-5532-440F-845A-D24A4CE00C36}"/>
              </a:ext>
            </a:extLst>
          </p:cNvPr>
          <p:cNvCxnSpPr>
            <a:cxnSpLocks/>
          </p:cNvCxnSpPr>
          <p:nvPr/>
        </p:nvCxnSpPr>
        <p:spPr>
          <a:xfrm flipV="1">
            <a:off x="8100364" y="2941320"/>
            <a:ext cx="0" cy="881601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E1961A3-5745-4D44-9593-AE8C7D433B68}"/>
              </a:ext>
            </a:extLst>
          </p:cNvPr>
          <p:cNvSpPr txBox="1"/>
          <p:nvPr/>
        </p:nvSpPr>
        <p:spPr>
          <a:xfrm>
            <a:off x="8047288" y="3228231"/>
            <a:ext cx="269800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gemmMSeparatorExtensionLength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E77CE29-AB66-4683-B1F9-7300DAEED68E}"/>
              </a:ext>
            </a:extLst>
          </p:cNvPr>
          <p:cNvSpPr txBox="1"/>
          <p:nvPr/>
        </p:nvSpPr>
        <p:spPr>
          <a:xfrm>
            <a:off x="3856773" y="2363950"/>
            <a:ext cx="3030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rgbClr val="FF0000"/>
                </a:solidFill>
              </a:rPr>
              <a:t>gemmMSeparatorFixerLength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EEB5E67-8916-4B71-90CD-947804774F00}"/>
              </a:ext>
            </a:extLst>
          </p:cNvPr>
          <p:cNvCxnSpPr>
            <a:cxnSpLocks/>
          </p:cNvCxnSpPr>
          <p:nvPr/>
        </p:nvCxnSpPr>
        <p:spPr>
          <a:xfrm flipH="1" flipV="1">
            <a:off x="3001689" y="2678114"/>
            <a:ext cx="4740231" cy="238078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BB0D9FDA-59CB-479B-A280-C3D50421955E}"/>
              </a:ext>
            </a:extLst>
          </p:cNvPr>
          <p:cNvCxnSpPr>
            <a:cxnSpLocks/>
          </p:cNvCxnSpPr>
          <p:nvPr/>
        </p:nvCxnSpPr>
        <p:spPr>
          <a:xfrm flipV="1">
            <a:off x="2933149" y="2744551"/>
            <a:ext cx="0" cy="539669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605BC1E-5B12-4672-89C4-59D71EEC0A06}"/>
              </a:ext>
            </a:extLst>
          </p:cNvPr>
          <p:cNvSpPr txBox="1"/>
          <p:nvPr/>
        </p:nvSpPr>
        <p:spPr>
          <a:xfrm>
            <a:off x="563885" y="2837903"/>
            <a:ext cx="242823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B050"/>
                </a:solidFill>
              </a:rPr>
              <a:t>gemmMSeparatorFixerWidth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ABE9791C-66AE-44EE-8756-C7616782BC73}"/>
              </a:ext>
            </a:extLst>
          </p:cNvPr>
          <p:cNvCxnSpPr>
            <a:cxnSpLocks/>
          </p:cNvCxnSpPr>
          <p:nvPr/>
        </p:nvCxnSpPr>
        <p:spPr>
          <a:xfrm flipH="1">
            <a:off x="7672388" y="2991791"/>
            <a:ext cx="176212" cy="40771"/>
          </a:xfrm>
          <a:prstGeom prst="straightConnector1">
            <a:avLst/>
          </a:prstGeom>
          <a:ln w="127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84F2E47-CDD6-40E5-B718-AAE0989A3F8B}"/>
              </a:ext>
            </a:extLst>
          </p:cNvPr>
          <p:cNvSpPr txBox="1"/>
          <p:nvPr/>
        </p:nvSpPr>
        <p:spPr>
          <a:xfrm>
            <a:off x="7196511" y="2482941"/>
            <a:ext cx="187666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0070C0"/>
                </a:solidFill>
              </a:rPr>
              <a:t>gemmMSeparatorFixerThickness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98C1DF3-AB0A-4AB3-B294-C6EB191CCF7F}"/>
              </a:ext>
            </a:extLst>
          </p:cNvPr>
          <p:cNvSpPr txBox="1"/>
          <p:nvPr/>
        </p:nvSpPr>
        <p:spPr>
          <a:xfrm rot="374591">
            <a:off x="3476040" y="3608275"/>
            <a:ext cx="3375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FF0000"/>
                </a:solidFill>
              </a:rPr>
              <a:t>gemmMSeparatorExtensionDistance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02809D4-B526-48E3-9B12-A375441990E0}"/>
              </a:ext>
            </a:extLst>
          </p:cNvPr>
          <p:cNvCxnSpPr>
            <a:cxnSpLocks/>
          </p:cNvCxnSpPr>
          <p:nvPr/>
        </p:nvCxnSpPr>
        <p:spPr>
          <a:xfrm flipH="1" flipV="1">
            <a:off x="3482195" y="3500549"/>
            <a:ext cx="3916827" cy="383241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F976F726-4ED3-4A66-B7CE-9322E04CB1FD}"/>
              </a:ext>
            </a:extLst>
          </p:cNvPr>
          <p:cNvCxnSpPr>
            <a:cxnSpLocks/>
          </p:cNvCxnSpPr>
          <p:nvPr/>
        </p:nvCxnSpPr>
        <p:spPr>
          <a:xfrm flipV="1">
            <a:off x="4139420" y="3348514"/>
            <a:ext cx="0" cy="177580"/>
          </a:xfrm>
          <a:prstGeom prst="straightConnector1">
            <a:avLst/>
          </a:prstGeom>
          <a:ln w="127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2A25FA6-0C3B-4C3E-9CBD-5284ADAD3830}"/>
              </a:ext>
            </a:extLst>
          </p:cNvPr>
          <p:cNvSpPr txBox="1"/>
          <p:nvPr/>
        </p:nvSpPr>
        <p:spPr>
          <a:xfrm rot="277639">
            <a:off x="3872307" y="3387253"/>
            <a:ext cx="345183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dirty="0" err="1">
                <a:solidFill>
                  <a:srgbClr val="00B050"/>
                </a:solidFill>
              </a:rPr>
              <a:t>gemmMSeparatorFixerToSeparatorDistance</a:t>
            </a:r>
            <a:endParaRPr lang="en-US" sz="1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474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55FDE6-1BCF-4418-AF57-BD072763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5" y="18255"/>
            <a:ext cx="10515600" cy="1325563"/>
          </a:xfrm>
        </p:spPr>
        <p:txBody>
          <a:bodyPr/>
          <a:lstStyle/>
          <a:p>
            <a:r>
              <a:rPr lang="es-ES" dirty="0"/>
              <a:t>Final </a:t>
            </a:r>
            <a:r>
              <a:rPr lang="es-ES" dirty="0" err="1"/>
              <a:t>assembly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51E056-E3C3-4B7D-B11E-E10F69061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224646-8DCB-49DD-AFEA-F78B913D8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775" y="1151259"/>
            <a:ext cx="4906873" cy="5232946"/>
          </a:xfrm>
          <a:prstGeom prst="rect">
            <a:avLst/>
          </a:prstGeom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03CFEA5-D1A5-4C98-BF25-A70A17B01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9929"/>
            <a:ext cx="5762625" cy="51001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68899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181</Words>
  <Application>Microsoft Office PowerPoint</Application>
  <PresentationFormat>Panorámica</PresentationFormat>
  <Paragraphs>58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Showcard Gothic</vt:lpstr>
      <vt:lpstr>Tema de Office</vt:lpstr>
      <vt:lpstr>GEM assembly</vt:lpstr>
      <vt:lpstr>GEM generator module</vt:lpstr>
      <vt:lpstr>gemKaptonFoil</vt:lpstr>
      <vt:lpstr>gemTop</vt:lpstr>
      <vt:lpstr>gemBottom</vt:lpstr>
      <vt:lpstr>gemFrame</vt:lpstr>
      <vt:lpstr>gemmMSeparator &amp; gemmMSeparatorFixer</vt:lpstr>
      <vt:lpstr>Final assembly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Micromegas assembly</dc:title>
  <dc:creator>Alvaro</dc:creator>
  <cp:lastModifiedBy>Alvaro</cp:lastModifiedBy>
  <cp:revision>92</cp:revision>
  <dcterms:created xsi:type="dcterms:W3CDTF">2025-06-24T13:05:21Z</dcterms:created>
  <dcterms:modified xsi:type="dcterms:W3CDTF">2025-07-16T12:57:17Z</dcterms:modified>
</cp:coreProperties>
</file>