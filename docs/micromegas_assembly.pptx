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58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78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26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3074C9-64DB-419D-89CD-F49C8B69C5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4430280-1D93-46F0-9490-EF69949006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13E13D-30C0-4C79-91E9-C55540B94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25B8-0253-444D-9C8E-E0C9E8C242B2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1C1177-E2AA-4B5A-8BA3-92B4B6EF0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45CD22-742D-4F1B-B623-12063F3B5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89B93-961F-4066-9579-65BD735437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341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A2BF4F-3153-4C16-B2A9-BDA695FA6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1C422A-C5E6-42EF-81FB-F277C8F39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94DC74-E0C0-4324-9569-D2ACB5C64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25B8-0253-444D-9C8E-E0C9E8C242B2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7A98ED-D21E-4FD9-9BE0-5D326ED7A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318D9B-21B1-4E22-B064-5040A4FCE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89B93-961F-4066-9579-65BD735437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236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F2E400-1886-473C-B086-1ACEB17B8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63DD3D6-D7EF-4DC0-AFFF-60B7BADA1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5F6207-3D29-4DF3-9FBE-EF61EEA0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25B8-0253-444D-9C8E-E0C9E8C242B2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194049-F7AB-448C-B5B1-2AFC129D2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822ED4-4586-4D56-9107-2501F3E03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89B93-961F-4066-9579-65BD735437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66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80C790-AE11-46CB-8083-8DED7A7F9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3F2BC3-2649-489C-9AD6-2BEE837DCD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62D7974-66EA-482C-AE0E-8331DFB10D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D322EAF-8ADD-4491-A498-F5FD976B4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25B8-0253-444D-9C8E-E0C9E8C242B2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7C2AAB3-5717-44FA-AB7C-F950B5DE5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B5F786-0A13-46D5-9CC4-C39CCDC23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89B93-961F-4066-9579-65BD735437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672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6074FC-4A12-417F-92DF-F29D9C8A3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19B4B8-CB88-4286-981B-58B79CBB8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384EFB0-FF19-452E-A827-1EF4E45AD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42D6D0E-1D79-4B32-9A42-67ADABEF59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6499056-4D54-4945-A4BE-0E14A8AA2F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1CEB930-73D3-4695-8BE4-7FA47BD97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25B8-0253-444D-9C8E-E0C9E8C242B2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99684C8-21D1-4E7A-BC04-65BE31026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FB9B5F7-E628-4209-9FE0-88B524F8D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89B93-961F-4066-9579-65BD735437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282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32C82A-3845-4D95-B532-E22B34F82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017A396-7402-48C0-B1F6-B15EB1800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25B8-0253-444D-9C8E-E0C9E8C242B2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28CE3CF-856E-4465-8F6C-907B4001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FBFE93D-18D2-4B7B-B09D-4324E12EC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89B93-961F-4066-9579-65BD735437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948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D640606-8198-44FA-B87D-F0354C8F9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25B8-0253-444D-9C8E-E0C9E8C242B2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8481B07-07A0-4B5A-9823-DFD5E87FA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8FB443F-FBEA-4E3E-A2E8-0B0A1C4C3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89B93-961F-4066-9579-65BD735437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727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69DB39-90A4-4F41-803F-6F1CF375D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15DC88-44B6-4C1D-B7CA-7C88E3E7D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60E0D90-EECD-4065-9434-D3BB0438B5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85D979C-7BF9-4E57-BCC8-9D6A4A253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25B8-0253-444D-9C8E-E0C9E8C242B2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28F0D6E-BD5F-44C0-A920-2466FEF3F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22F30E9-EEEE-4C3D-92E4-9BB22EABA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89B93-961F-4066-9579-65BD735437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004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E5ADBF-A312-4934-BA8B-70EA5D96A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2DDD5DC-DBA0-41FB-AB6B-0DD24D4674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3075E4-CA6F-4386-A20D-2368846F0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3165048-EFCC-4B5A-87B3-11DF6B99A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25B8-0253-444D-9C8E-E0C9E8C242B2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572D835-8A9B-4673-A7CF-D91D2DE5C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8389D2B-6D6C-4DF1-8D93-61037A927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89B93-961F-4066-9579-65BD735437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073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E3003-0D08-411C-B807-AD6CABAF8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ACDAD3-FB0E-44CA-B832-0E8CF6FB9A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FF0B13-4E0C-4C9C-8859-8D7A5E2A7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25B8-0253-444D-9C8E-E0C9E8C242B2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567EB3-976B-4F9D-A613-E5481BCA0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B6036F-85E8-4121-A015-38AB06A99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89B93-961F-4066-9579-65BD735437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781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7B21C18-983E-48EB-BB18-9B193822B4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A9409B7-1F85-42CC-BBB1-222AD830DC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E595AA-20C7-418F-B717-2CB958B7F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25B8-0253-444D-9C8E-E0C9E8C242B2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11679A-ABB6-4C38-BBFF-DE8E02F34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EFB9AC-01AC-4941-ACD3-BFE773686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89B93-961F-4066-9579-65BD735437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136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E05FEA9-632C-4B22-93B6-0085E0368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41DDC21-3203-47FB-9FB6-76FD7FE6C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97DFB4-5CED-424E-BB26-08438623B3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8925B8-0253-444D-9C8E-E0C9E8C242B2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1590E5-0965-482F-979E-532BA8EA51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603352-4C8F-4598-95B7-63BDEF6C03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289B93-961F-4066-9579-65BD735437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306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nuclear.unizar.es/t/6-10-june-2022-trex-dm-intervention-second-week/937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620490-6F47-4940-9F2D-9348D7371D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20516"/>
            <a:ext cx="9144000" cy="2387600"/>
          </a:xfrm>
        </p:spPr>
        <p:txBody>
          <a:bodyPr/>
          <a:lstStyle/>
          <a:p>
            <a:r>
              <a:rPr lang="es-ES" dirty="0" err="1"/>
              <a:t>Micromegas</a:t>
            </a:r>
            <a:r>
              <a:rPr lang="es-ES" dirty="0"/>
              <a:t> </a:t>
            </a:r>
            <a:r>
              <a:rPr lang="es-ES" dirty="0" err="1"/>
              <a:t>assembly</a:t>
            </a:r>
            <a:endParaRPr lang="en-U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85436B-CDC0-4841-9E0F-D357ED32F8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18317"/>
            <a:ext cx="9144000" cy="1655762"/>
          </a:xfrm>
        </p:spPr>
        <p:txBody>
          <a:bodyPr/>
          <a:lstStyle/>
          <a:p>
            <a:r>
              <a:rPr lang="es-ES" dirty="0"/>
              <a:t>Álvaro Ezquerro</a:t>
            </a:r>
          </a:p>
          <a:p>
            <a:r>
              <a:rPr lang="es-ES" dirty="0" err="1"/>
              <a:t>July</a:t>
            </a:r>
            <a:r>
              <a:rPr lang="es-ES" dirty="0"/>
              <a:t> 2025</a:t>
            </a:r>
            <a:endParaRPr lang="en-US" dirty="0"/>
          </a:p>
        </p:txBody>
      </p:sp>
      <p:pic>
        <p:nvPicPr>
          <p:cNvPr id="4" name="Imagen 3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4D93BBC1-5BB9-471B-8A3A-3F55775A24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084" y="4511987"/>
            <a:ext cx="2516504" cy="2094990"/>
          </a:xfrm>
          <a:prstGeom prst="rect">
            <a:avLst/>
          </a:prstGeom>
        </p:spPr>
      </p:pic>
      <p:sp>
        <p:nvSpPr>
          <p:cNvPr id="5" name="Bocadillo: ovalado 4">
            <a:extLst>
              <a:ext uri="{FF2B5EF4-FFF2-40B4-BE49-F238E27FC236}">
                <a16:creationId xmlns:a16="http://schemas.microsoft.com/office/drawing/2014/main" id="{584596E3-C6AE-4E57-9FB8-8ECB575344AB}"/>
              </a:ext>
            </a:extLst>
          </p:cNvPr>
          <p:cNvSpPr/>
          <p:nvPr/>
        </p:nvSpPr>
        <p:spPr>
          <a:xfrm>
            <a:off x="4204607" y="4338193"/>
            <a:ext cx="1011790" cy="791936"/>
          </a:xfrm>
          <a:prstGeom prst="wedgeEllipseCallout">
            <a:avLst>
              <a:gd name="adj1" fmla="val 72768"/>
              <a:gd name="adj2" fmla="val 2607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9FEF9AE-7522-40B4-8461-FD296EBC8708}"/>
              </a:ext>
            </a:extLst>
          </p:cNvPr>
          <p:cNvSpPr txBox="1"/>
          <p:nvPr/>
        </p:nvSpPr>
        <p:spPr>
          <a:xfrm>
            <a:off x="3714749" y="4441773"/>
            <a:ext cx="1991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dirty="0">
                <a:solidFill>
                  <a:schemeClr val="bg1"/>
                </a:solidFill>
                <a:latin typeface="Showcard Gothic" panose="04020904020102020604" pitchFamily="82" charset="0"/>
              </a:rPr>
              <a:t>DM</a:t>
            </a:r>
          </a:p>
        </p:txBody>
      </p:sp>
    </p:spTree>
    <p:extLst>
      <p:ext uri="{BB962C8B-B14F-4D97-AF65-F5344CB8AC3E}">
        <p14:creationId xmlns:p14="http://schemas.microsoft.com/office/powerpoint/2010/main" val="2289026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4AF2DC-B9B7-4C03-9BC8-ED3F34108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783" y="26280"/>
            <a:ext cx="10515600" cy="1325563"/>
          </a:xfrm>
        </p:spPr>
        <p:txBody>
          <a:bodyPr/>
          <a:lstStyle/>
          <a:p>
            <a:r>
              <a:rPr lang="es-ES" dirty="0"/>
              <a:t>CAD </a:t>
            </a:r>
            <a:r>
              <a:rPr lang="es-ES" dirty="0" err="1"/>
              <a:t>design</a:t>
            </a:r>
            <a:r>
              <a:rPr lang="es-ES" dirty="0"/>
              <a:t> </a:t>
            </a:r>
            <a:r>
              <a:rPr lang="es-ES" dirty="0" err="1"/>
              <a:t>which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based</a:t>
            </a:r>
            <a:r>
              <a:rPr lang="es-ES" dirty="0"/>
              <a:t> </a:t>
            </a:r>
            <a:r>
              <a:rPr lang="es-ES" dirty="0" err="1"/>
              <a:t>on</a:t>
            </a:r>
            <a:endParaRPr lang="en-US" dirty="0"/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CFC2C0E2-7B26-480A-A779-E24EE3F5A2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23866" y="1097901"/>
            <a:ext cx="2361832" cy="2500042"/>
          </a:xfr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1217CE9-9D22-4C9B-8FDE-C1BF5DA51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" y="1042522"/>
            <a:ext cx="2501456" cy="255542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DA18390-204F-40EC-8D76-B96BA6EA95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7474" y="348557"/>
            <a:ext cx="2202228" cy="324938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3C1E231-49D2-4310-A673-9DDD5EB50E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7251" y="3739274"/>
            <a:ext cx="2778296" cy="2860642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B76B7C53-D4C0-482C-AD28-86CC41B4D3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0583" y="3759495"/>
            <a:ext cx="3202238" cy="284042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18F18800-07D9-4E39-A65A-979E101B3AF8}"/>
              </a:ext>
            </a:extLst>
          </p:cNvPr>
          <p:cNvSpPr txBox="1"/>
          <p:nvPr/>
        </p:nvSpPr>
        <p:spPr>
          <a:xfrm>
            <a:off x="9158297" y="5566164"/>
            <a:ext cx="29681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And </a:t>
            </a:r>
            <a:r>
              <a:rPr lang="es-ES" dirty="0" err="1"/>
              <a:t>photos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real </a:t>
            </a:r>
            <a:r>
              <a:rPr lang="es-ES" dirty="0" err="1"/>
              <a:t>setup</a:t>
            </a:r>
            <a:r>
              <a:rPr lang="es-ES" dirty="0"/>
              <a:t>:</a:t>
            </a:r>
          </a:p>
          <a:p>
            <a:r>
              <a:rPr lang="en-US" dirty="0">
                <a:hlinkClick r:id="rId7"/>
              </a:rPr>
              <a:t>June 2022 intervention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992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FA4B12-0456-48A1-B144-70059D292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s-ES" dirty="0" err="1"/>
              <a:t>Micromegas</a:t>
            </a:r>
            <a:r>
              <a:rPr lang="es-ES" dirty="0"/>
              <a:t> </a:t>
            </a:r>
            <a:r>
              <a:rPr lang="es-ES" dirty="0" err="1"/>
              <a:t>generator</a:t>
            </a:r>
            <a:r>
              <a:rPr lang="es-ES" dirty="0"/>
              <a:t> module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6773F9-3171-4754-9F43-F480CA224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836" y="1499054"/>
            <a:ext cx="10515600" cy="4351338"/>
          </a:xfrm>
        </p:spPr>
        <p:txBody>
          <a:bodyPr/>
          <a:lstStyle/>
          <a:p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assembly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generated</a:t>
            </a:r>
            <a:r>
              <a:rPr lang="es-ES" dirty="0"/>
              <a:t> </a:t>
            </a:r>
            <a:r>
              <a:rPr lang="es-ES" dirty="0" err="1"/>
              <a:t>by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function</a:t>
            </a:r>
            <a:r>
              <a:rPr lang="es-ES" dirty="0"/>
              <a:t>:</a:t>
            </a:r>
            <a:r>
              <a:rPr lang="en-US" sz="1100" dirty="0">
                <a:solidFill>
                  <a:srgbClr val="ABB2BF"/>
                </a:solidFill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generate_micromegas_assembly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micromegas_assembly</a:t>
            </a: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 registry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is_right_side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endParaRPr lang="es-ES" dirty="0"/>
          </a:p>
          <a:p>
            <a:r>
              <a:rPr lang="es-ES" dirty="0" err="1"/>
              <a:t>It</a:t>
            </a:r>
            <a:r>
              <a:rPr lang="es-ES" dirty="0"/>
              <a:t> can </a:t>
            </a:r>
            <a:r>
              <a:rPr lang="es-ES" dirty="0" err="1"/>
              <a:t>generate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assembly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right</a:t>
            </a:r>
            <a:r>
              <a:rPr lang="es-ES" dirty="0"/>
              <a:t> </a:t>
            </a:r>
            <a:r>
              <a:rPr lang="es-ES" dirty="0" err="1"/>
              <a:t>or</a:t>
            </a:r>
            <a:r>
              <a:rPr lang="es-ES" dirty="0"/>
              <a:t> </a:t>
            </a:r>
            <a:r>
              <a:rPr lang="es-ES" dirty="0" err="1"/>
              <a:t>left</a:t>
            </a:r>
            <a:r>
              <a:rPr lang="es-ES" dirty="0"/>
              <a:t> </a:t>
            </a:r>
            <a:r>
              <a:rPr lang="es-ES" dirty="0" err="1"/>
              <a:t>side</a:t>
            </a:r>
            <a:r>
              <a:rPr lang="es-ES" dirty="0"/>
              <a:t>. </a:t>
            </a:r>
            <a:r>
              <a:rPr lang="es-ES" dirty="0" err="1"/>
              <a:t>These</a:t>
            </a:r>
            <a:r>
              <a:rPr lang="es-ES" dirty="0"/>
              <a:t> are </a:t>
            </a:r>
            <a:r>
              <a:rPr lang="es-ES" dirty="0" err="1"/>
              <a:t>mirror</a:t>
            </a:r>
            <a:r>
              <a:rPr lang="es-ES" dirty="0"/>
              <a:t> </a:t>
            </a:r>
            <a:r>
              <a:rPr lang="es-ES" dirty="0" err="1"/>
              <a:t>assemblies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each</a:t>
            </a:r>
            <a:r>
              <a:rPr lang="es-ES" dirty="0"/>
              <a:t> </a:t>
            </a:r>
            <a:r>
              <a:rPr lang="es-ES" dirty="0" err="1"/>
              <a:t>other</a:t>
            </a:r>
            <a:r>
              <a:rPr lang="es-ES" dirty="0"/>
              <a:t>, </a:t>
            </a:r>
            <a:r>
              <a:rPr lang="es-ES" dirty="0" err="1"/>
              <a:t>which</a:t>
            </a:r>
            <a:r>
              <a:rPr lang="es-ES" dirty="0"/>
              <a:t> </a:t>
            </a:r>
            <a:r>
              <a:rPr lang="es-ES" dirty="0" err="1"/>
              <a:t>cannot</a:t>
            </a:r>
            <a:r>
              <a:rPr lang="es-ES" dirty="0"/>
              <a:t> be done </a:t>
            </a:r>
            <a:r>
              <a:rPr lang="es-ES" dirty="0" err="1"/>
              <a:t>by</a:t>
            </a:r>
            <a:r>
              <a:rPr lang="es-ES" dirty="0"/>
              <a:t> </a:t>
            </a:r>
            <a:r>
              <a:rPr lang="es-ES" dirty="0" err="1"/>
              <a:t>rotation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one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assemblies</a:t>
            </a:r>
            <a:r>
              <a:rPr lang="es-ES" dirty="0"/>
              <a:t>.</a:t>
            </a:r>
          </a:p>
          <a:p>
            <a:endParaRPr lang="es-ES" dirty="0"/>
          </a:p>
          <a:p>
            <a:r>
              <a:rPr lang="es-ES" dirty="0"/>
              <a:t>In </a:t>
            </a:r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document</a:t>
            </a:r>
            <a:r>
              <a:rPr lang="es-ES" dirty="0"/>
              <a:t>,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right</a:t>
            </a:r>
            <a:r>
              <a:rPr lang="es-ES" dirty="0"/>
              <a:t> </a:t>
            </a:r>
            <a:r>
              <a:rPr lang="es-ES" dirty="0" err="1"/>
              <a:t>side</a:t>
            </a:r>
            <a:r>
              <a:rPr lang="es-ES" dirty="0"/>
              <a:t> </a:t>
            </a:r>
            <a:r>
              <a:rPr lang="es-ES" dirty="0" err="1"/>
              <a:t>assembly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shown</a:t>
            </a:r>
            <a:r>
              <a:rPr lang="es-ES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08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279985-7138-46A9-AD10-3846FD583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2" y="1782445"/>
            <a:ext cx="10515600" cy="435133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356AE94-DAD5-40CC-B116-307648AA7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72" y="204994"/>
            <a:ext cx="5151664" cy="665300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76BA5D9-CEFD-49C5-9956-758881A0CC37}"/>
              </a:ext>
            </a:extLst>
          </p:cNvPr>
          <p:cNvSpPr txBox="1"/>
          <p:nvPr/>
        </p:nvSpPr>
        <p:spPr>
          <a:xfrm rot="20196983">
            <a:off x="2666957" y="1558702"/>
            <a:ext cx="2767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rgbClr val="FF0000"/>
                </a:solidFill>
              </a:rPr>
              <a:t>mmBaseLength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043D95D-096C-49CC-9F46-E073C20F9E5C}"/>
              </a:ext>
            </a:extLst>
          </p:cNvPr>
          <p:cNvSpPr txBox="1"/>
          <p:nvPr/>
        </p:nvSpPr>
        <p:spPr>
          <a:xfrm rot="2630449">
            <a:off x="4846142" y="3184862"/>
            <a:ext cx="2767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solidFill>
                  <a:srgbClr val="FFC000"/>
                </a:solidFill>
              </a:rPr>
              <a:t>mmBaseRadius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5BA60DC-A3F9-4C96-AB7D-FEF4DCBCE635}"/>
              </a:ext>
            </a:extLst>
          </p:cNvPr>
          <p:cNvSpPr txBox="1"/>
          <p:nvPr/>
        </p:nvSpPr>
        <p:spPr>
          <a:xfrm>
            <a:off x="1757109" y="3219275"/>
            <a:ext cx="194037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rgbClr val="0070C0"/>
                </a:solidFill>
              </a:rPr>
              <a:t>mmBaseThickness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12990FC-9BC0-4F79-8F85-C0D50DD347D5}"/>
              </a:ext>
            </a:extLst>
          </p:cNvPr>
          <p:cNvCxnSpPr>
            <a:cxnSpLocks/>
          </p:cNvCxnSpPr>
          <p:nvPr/>
        </p:nvCxnSpPr>
        <p:spPr>
          <a:xfrm flipH="1">
            <a:off x="3222131" y="1513174"/>
            <a:ext cx="1885948" cy="907129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36AEC385-63D5-49B0-B38F-8619F66CD5F7}"/>
              </a:ext>
            </a:extLst>
          </p:cNvPr>
          <p:cNvCxnSpPr>
            <a:cxnSpLocks/>
          </p:cNvCxnSpPr>
          <p:nvPr/>
        </p:nvCxnSpPr>
        <p:spPr>
          <a:xfrm flipH="1" flipV="1">
            <a:off x="3648034" y="2782110"/>
            <a:ext cx="1198788" cy="1084276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3EEA1D4D-609F-41CE-AD88-8F72BE099D90}"/>
              </a:ext>
            </a:extLst>
          </p:cNvPr>
          <p:cNvCxnSpPr>
            <a:cxnSpLocks/>
          </p:cNvCxnSpPr>
          <p:nvPr/>
        </p:nvCxnSpPr>
        <p:spPr>
          <a:xfrm flipH="1">
            <a:off x="3527780" y="3522397"/>
            <a:ext cx="169707" cy="56115"/>
          </a:xfrm>
          <a:prstGeom prst="straightConnector1">
            <a:avLst/>
          </a:prstGeom>
          <a:ln w="28575">
            <a:solidFill>
              <a:srgbClr val="0070C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Imagen 12">
            <a:extLst>
              <a:ext uri="{FF2B5EF4-FFF2-40B4-BE49-F238E27FC236}">
                <a16:creationId xmlns:a16="http://schemas.microsoft.com/office/drawing/2014/main" id="{B8FE23E4-FCC7-4972-BC38-B9B2C1368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6687" y="102497"/>
            <a:ext cx="5151664" cy="6653006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6B4B41F2-C484-4147-97CC-BDB2F5A68E35}"/>
              </a:ext>
            </a:extLst>
          </p:cNvPr>
          <p:cNvSpPr txBox="1"/>
          <p:nvPr/>
        </p:nvSpPr>
        <p:spPr>
          <a:xfrm rot="19815240">
            <a:off x="8123022" y="2485433"/>
            <a:ext cx="33076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 err="1">
                <a:solidFill>
                  <a:srgbClr val="FF0000"/>
                </a:solidFill>
              </a:rPr>
              <a:t>mmBaseRecessLength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02C7AE3-3163-488F-B600-A3F0092526F0}"/>
              </a:ext>
            </a:extLst>
          </p:cNvPr>
          <p:cNvSpPr txBox="1"/>
          <p:nvPr/>
        </p:nvSpPr>
        <p:spPr>
          <a:xfrm>
            <a:off x="9578571" y="3576636"/>
            <a:ext cx="377761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400" dirty="0" err="1">
                <a:solidFill>
                  <a:srgbClr val="0070C0"/>
                </a:solidFill>
              </a:rPr>
              <a:t>mmBaseRecessThickness</a:t>
            </a:r>
            <a:endParaRPr lang="en-US" sz="1400" dirty="0">
              <a:solidFill>
                <a:srgbClr val="0070C0"/>
              </a:solidFill>
            </a:endParaRP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1A64E1E2-C1F3-4211-96F4-73078E9C07CD}"/>
              </a:ext>
            </a:extLst>
          </p:cNvPr>
          <p:cNvCxnSpPr>
            <a:cxnSpLocks/>
          </p:cNvCxnSpPr>
          <p:nvPr/>
        </p:nvCxnSpPr>
        <p:spPr>
          <a:xfrm flipH="1">
            <a:off x="9360312" y="2491905"/>
            <a:ext cx="957942" cy="563478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0D807D1F-6721-4182-B958-3A161F8E4172}"/>
              </a:ext>
            </a:extLst>
          </p:cNvPr>
          <p:cNvCxnSpPr>
            <a:cxnSpLocks/>
          </p:cNvCxnSpPr>
          <p:nvPr/>
        </p:nvCxnSpPr>
        <p:spPr>
          <a:xfrm flipH="1">
            <a:off x="10558692" y="3577675"/>
            <a:ext cx="198747" cy="69457"/>
          </a:xfrm>
          <a:prstGeom prst="straightConnector1">
            <a:avLst/>
          </a:prstGeom>
          <a:ln w="28575">
            <a:solidFill>
              <a:srgbClr val="0070C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9D2F4A21-D639-4BD9-B8B2-B77878951753}"/>
              </a:ext>
            </a:extLst>
          </p:cNvPr>
          <p:cNvCxnSpPr>
            <a:cxnSpLocks/>
          </p:cNvCxnSpPr>
          <p:nvPr/>
        </p:nvCxnSpPr>
        <p:spPr>
          <a:xfrm flipH="1" flipV="1">
            <a:off x="9389400" y="3068849"/>
            <a:ext cx="686648" cy="2156447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9AFD5162-D629-4CC7-B37A-FB5BB79D0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839" y="242535"/>
            <a:ext cx="10515600" cy="1325563"/>
          </a:xfrm>
        </p:spPr>
        <p:txBody>
          <a:bodyPr/>
          <a:lstStyle/>
          <a:p>
            <a:r>
              <a:rPr lang="es-ES" dirty="0" err="1"/>
              <a:t>mMBase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551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FD5162-D629-4CC7-B37A-FB5BB79D0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072" y="257796"/>
            <a:ext cx="10515600" cy="1325563"/>
          </a:xfrm>
        </p:spPr>
        <p:txBody>
          <a:bodyPr/>
          <a:lstStyle/>
          <a:p>
            <a:r>
              <a:rPr lang="es-ES" dirty="0" err="1"/>
              <a:t>mMBaseBracket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279985-7138-46A9-AD10-3846FD583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2" y="1782445"/>
            <a:ext cx="10515600" cy="435133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356AE94-DAD5-40CC-B116-307648AA7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764" y="102497"/>
            <a:ext cx="5151664" cy="665300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76BA5D9-CEFD-49C5-9956-758881A0CC37}"/>
              </a:ext>
            </a:extLst>
          </p:cNvPr>
          <p:cNvSpPr txBox="1"/>
          <p:nvPr/>
        </p:nvSpPr>
        <p:spPr>
          <a:xfrm rot="19815240">
            <a:off x="6677395" y="2402751"/>
            <a:ext cx="33076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 err="1">
                <a:solidFill>
                  <a:srgbClr val="FF0000"/>
                </a:solidFill>
              </a:rPr>
              <a:t>mmBaseBracketLength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5BA60DC-A3F9-4C96-AB7D-FEF4DCBCE635}"/>
              </a:ext>
            </a:extLst>
          </p:cNvPr>
          <p:cNvSpPr txBox="1"/>
          <p:nvPr/>
        </p:nvSpPr>
        <p:spPr>
          <a:xfrm>
            <a:off x="4671357" y="2485942"/>
            <a:ext cx="377761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400" dirty="0" err="1">
                <a:solidFill>
                  <a:srgbClr val="0070C0"/>
                </a:solidFill>
              </a:rPr>
              <a:t>mmBaseBracketThickness</a:t>
            </a:r>
            <a:endParaRPr lang="en-US" sz="1400" dirty="0">
              <a:solidFill>
                <a:srgbClr val="0070C0"/>
              </a:solidFill>
            </a:endParaRP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12990FC-9BC0-4F79-8F85-C0D50DD347D5}"/>
              </a:ext>
            </a:extLst>
          </p:cNvPr>
          <p:cNvCxnSpPr>
            <a:cxnSpLocks/>
          </p:cNvCxnSpPr>
          <p:nvPr/>
        </p:nvCxnSpPr>
        <p:spPr>
          <a:xfrm flipH="1">
            <a:off x="7724118" y="2174613"/>
            <a:ext cx="1113064" cy="563478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3EEA1D4D-609F-41CE-AD88-8F72BE099D90}"/>
              </a:ext>
            </a:extLst>
          </p:cNvPr>
          <p:cNvCxnSpPr>
            <a:cxnSpLocks/>
          </p:cNvCxnSpPr>
          <p:nvPr/>
        </p:nvCxnSpPr>
        <p:spPr>
          <a:xfrm flipH="1">
            <a:off x="7529698" y="2570374"/>
            <a:ext cx="198747" cy="69457"/>
          </a:xfrm>
          <a:prstGeom prst="straightConnector1">
            <a:avLst/>
          </a:prstGeom>
          <a:ln w="12700">
            <a:solidFill>
              <a:srgbClr val="0070C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CCAD6C0-AF44-402D-9EE9-5CE57C899B90}"/>
              </a:ext>
            </a:extLst>
          </p:cNvPr>
          <p:cNvSpPr txBox="1"/>
          <p:nvPr/>
        </p:nvSpPr>
        <p:spPr>
          <a:xfrm>
            <a:off x="7806477" y="1775079"/>
            <a:ext cx="377761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400" dirty="0" err="1">
                <a:solidFill>
                  <a:srgbClr val="00B050"/>
                </a:solidFill>
              </a:rPr>
              <a:t>mmBaseBracketWidth</a:t>
            </a:r>
            <a:endParaRPr lang="en-US" sz="1400" dirty="0">
              <a:solidFill>
                <a:srgbClr val="00B050"/>
              </a:solidFill>
            </a:endParaRP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FF10B694-6708-42C3-8A95-BABF927CBD7C}"/>
              </a:ext>
            </a:extLst>
          </p:cNvPr>
          <p:cNvCxnSpPr>
            <a:cxnSpLocks/>
          </p:cNvCxnSpPr>
          <p:nvPr/>
        </p:nvCxnSpPr>
        <p:spPr>
          <a:xfrm flipH="1" flipV="1">
            <a:off x="8742136" y="1781112"/>
            <a:ext cx="106135" cy="364868"/>
          </a:xfrm>
          <a:prstGeom prst="straightConnector1">
            <a:avLst/>
          </a:prstGeom>
          <a:ln w="28575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4909B441-37F2-4147-BB65-2AE10618B539}"/>
              </a:ext>
            </a:extLst>
          </p:cNvPr>
          <p:cNvCxnSpPr>
            <a:cxnSpLocks/>
          </p:cNvCxnSpPr>
          <p:nvPr/>
        </p:nvCxnSpPr>
        <p:spPr>
          <a:xfrm flipH="1" flipV="1">
            <a:off x="7920265" y="1905772"/>
            <a:ext cx="77126" cy="184823"/>
          </a:xfrm>
          <a:prstGeom prst="straightConnector1">
            <a:avLst/>
          </a:prstGeom>
          <a:ln w="12700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20A7F55-F601-4168-93DA-DE2B028B9C03}"/>
              </a:ext>
            </a:extLst>
          </p:cNvPr>
          <p:cNvSpPr txBox="1"/>
          <p:nvPr/>
        </p:nvSpPr>
        <p:spPr>
          <a:xfrm>
            <a:off x="5492568" y="1866836"/>
            <a:ext cx="244572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400" dirty="0" err="1">
                <a:solidFill>
                  <a:srgbClr val="00B050"/>
                </a:solidFill>
              </a:rPr>
              <a:t>mmBaseEndToBracketDistance</a:t>
            </a:r>
            <a:endParaRPr lang="en-US" sz="1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5054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91596F-6548-4A48-8ADE-FA8B6963A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18" y="-27826"/>
            <a:ext cx="10515600" cy="1325563"/>
          </a:xfrm>
        </p:spPr>
        <p:txBody>
          <a:bodyPr/>
          <a:lstStyle/>
          <a:p>
            <a:r>
              <a:rPr lang="es-ES" dirty="0" err="1"/>
              <a:t>mMSupport</a:t>
            </a: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F835E24-12AA-4B9C-9C29-6E3090444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6307" y="284842"/>
            <a:ext cx="4739774" cy="50285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C4C8356-E191-449E-887B-5E5CB64CD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019" y="1690688"/>
            <a:ext cx="5119722" cy="500365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FB5FC52-7268-4C56-9291-A0D306DB8E0D}"/>
              </a:ext>
            </a:extLst>
          </p:cNvPr>
          <p:cNvSpPr txBox="1"/>
          <p:nvPr/>
        </p:nvSpPr>
        <p:spPr>
          <a:xfrm>
            <a:off x="118860" y="2935298"/>
            <a:ext cx="133350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 err="1"/>
              <a:t>Column</a:t>
            </a:r>
            <a:r>
              <a:rPr lang="es-ES" dirty="0"/>
              <a:t> A</a:t>
            </a:r>
            <a:endParaRPr lang="en-US" dirty="0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A2F48465-0F32-4EF9-8EAF-A7E5114EED08}"/>
              </a:ext>
            </a:extLst>
          </p:cNvPr>
          <p:cNvCxnSpPr>
            <a:cxnSpLocks/>
          </p:cNvCxnSpPr>
          <p:nvPr/>
        </p:nvCxnSpPr>
        <p:spPr>
          <a:xfrm flipH="1" flipV="1">
            <a:off x="1452361" y="3119964"/>
            <a:ext cx="1883878" cy="715573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8308771-44F0-4353-B0EE-E8FEF546B3DC}"/>
              </a:ext>
            </a:extLst>
          </p:cNvPr>
          <p:cNvSpPr txBox="1"/>
          <p:nvPr/>
        </p:nvSpPr>
        <p:spPr>
          <a:xfrm>
            <a:off x="118860" y="2338104"/>
            <a:ext cx="133350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 err="1"/>
              <a:t>Column</a:t>
            </a:r>
            <a:r>
              <a:rPr lang="es-ES" dirty="0"/>
              <a:t> B</a:t>
            </a:r>
            <a:endParaRPr lang="en-US" dirty="0"/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897BCC1D-5667-40EB-968D-0BA25805F02D}"/>
              </a:ext>
            </a:extLst>
          </p:cNvPr>
          <p:cNvCxnSpPr>
            <a:cxnSpLocks/>
          </p:cNvCxnSpPr>
          <p:nvPr/>
        </p:nvCxnSpPr>
        <p:spPr>
          <a:xfrm flipH="1" flipV="1">
            <a:off x="1452361" y="2522771"/>
            <a:ext cx="2513700" cy="866904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F07C31C-F73A-430A-8C86-0D6CECFBF831}"/>
              </a:ext>
            </a:extLst>
          </p:cNvPr>
          <p:cNvSpPr txBox="1"/>
          <p:nvPr/>
        </p:nvSpPr>
        <p:spPr>
          <a:xfrm>
            <a:off x="118860" y="1825625"/>
            <a:ext cx="133350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 err="1"/>
              <a:t>Column</a:t>
            </a:r>
            <a:r>
              <a:rPr lang="es-ES" dirty="0"/>
              <a:t> C</a:t>
            </a:r>
            <a:endParaRPr lang="en-US" dirty="0"/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E199053B-E96E-4624-8ADA-68A7AA439971}"/>
              </a:ext>
            </a:extLst>
          </p:cNvPr>
          <p:cNvCxnSpPr>
            <a:cxnSpLocks/>
          </p:cNvCxnSpPr>
          <p:nvPr/>
        </p:nvCxnSpPr>
        <p:spPr>
          <a:xfrm flipH="1" flipV="1">
            <a:off x="1452363" y="2010292"/>
            <a:ext cx="2415072" cy="1036739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0F1360B-F26B-4656-8B6B-C12C4902B3A6}"/>
              </a:ext>
            </a:extLst>
          </p:cNvPr>
          <p:cNvSpPr txBox="1"/>
          <p:nvPr/>
        </p:nvSpPr>
        <p:spPr>
          <a:xfrm>
            <a:off x="26670" y="3487616"/>
            <a:ext cx="142569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400" dirty="0" err="1"/>
              <a:t>capSupportBase</a:t>
            </a:r>
            <a:endParaRPr lang="en-US" sz="1400" dirty="0"/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C5D9B1CF-A843-4E78-9CD4-0801D6CBA97E}"/>
              </a:ext>
            </a:extLst>
          </p:cNvPr>
          <p:cNvCxnSpPr>
            <a:cxnSpLocks/>
          </p:cNvCxnSpPr>
          <p:nvPr/>
        </p:nvCxnSpPr>
        <p:spPr>
          <a:xfrm flipH="1" flipV="1">
            <a:off x="529934" y="3802203"/>
            <a:ext cx="1096062" cy="1819713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1A87690-B10D-4437-A829-CCF311EEF0D4}"/>
              </a:ext>
            </a:extLst>
          </p:cNvPr>
          <p:cNvSpPr txBox="1"/>
          <p:nvPr/>
        </p:nvSpPr>
        <p:spPr>
          <a:xfrm>
            <a:off x="1513114" y="1388934"/>
            <a:ext cx="1470553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/>
              <a:t>mMTriangularSupport</a:t>
            </a:r>
            <a:endParaRPr lang="en-US" sz="1100" dirty="0"/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BA3B4C72-A8E0-4526-B413-3A41E773D2F3}"/>
              </a:ext>
            </a:extLst>
          </p:cNvPr>
          <p:cNvCxnSpPr>
            <a:cxnSpLocks/>
            <a:endCxn id="24" idx="2"/>
          </p:cNvCxnSpPr>
          <p:nvPr/>
        </p:nvCxnSpPr>
        <p:spPr>
          <a:xfrm flipH="1" flipV="1">
            <a:off x="2248391" y="1650544"/>
            <a:ext cx="1374688" cy="68756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2DC8C32C-E306-417A-96EC-E7B929ACEA2B}"/>
              </a:ext>
            </a:extLst>
          </p:cNvPr>
          <p:cNvSpPr txBox="1"/>
          <p:nvPr/>
        </p:nvSpPr>
        <p:spPr>
          <a:xfrm>
            <a:off x="6172200" y="5536562"/>
            <a:ext cx="2100943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/>
              <a:t>mMTriangularSupportSquareCut</a:t>
            </a:r>
            <a:endParaRPr lang="en-US" sz="1100" dirty="0"/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474E103F-745F-4A24-B54B-8B29004D65D3}"/>
              </a:ext>
            </a:extLst>
          </p:cNvPr>
          <p:cNvCxnSpPr>
            <a:cxnSpLocks/>
          </p:cNvCxnSpPr>
          <p:nvPr/>
        </p:nvCxnSpPr>
        <p:spPr>
          <a:xfrm flipH="1">
            <a:off x="7304315" y="4936671"/>
            <a:ext cx="566056" cy="59328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53AD0D48-86B2-4B01-89C7-6025AC06DB79}"/>
              </a:ext>
            </a:extLst>
          </p:cNvPr>
          <p:cNvSpPr txBox="1"/>
          <p:nvPr/>
        </p:nvSpPr>
        <p:spPr>
          <a:xfrm>
            <a:off x="8893628" y="2056178"/>
            <a:ext cx="1470553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/>
              <a:t>cupSupportBaseCut</a:t>
            </a:r>
            <a:endParaRPr lang="en-US" sz="1100" dirty="0"/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E4D260A0-7957-4EE9-B02A-0D7A843D0AAF}"/>
              </a:ext>
            </a:extLst>
          </p:cNvPr>
          <p:cNvCxnSpPr>
            <a:cxnSpLocks/>
          </p:cNvCxnSpPr>
          <p:nvPr/>
        </p:nvCxnSpPr>
        <p:spPr>
          <a:xfrm flipV="1">
            <a:off x="8790214" y="2302544"/>
            <a:ext cx="591692" cy="60791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BC6B9C45-B0AC-4E32-8E81-28113EA0A061}"/>
              </a:ext>
            </a:extLst>
          </p:cNvPr>
          <p:cNvSpPr txBox="1"/>
          <p:nvPr/>
        </p:nvSpPr>
        <p:spPr>
          <a:xfrm rot="17282208">
            <a:off x="2336326" y="4002924"/>
            <a:ext cx="104789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400" dirty="0" err="1">
                <a:solidFill>
                  <a:srgbClr val="0070C0"/>
                </a:solidFill>
              </a:rPr>
              <a:t>HeightA</a:t>
            </a:r>
            <a:endParaRPr lang="en-US" sz="1400" dirty="0">
              <a:solidFill>
                <a:srgbClr val="0070C0"/>
              </a:solidFill>
            </a:endParaRPr>
          </a:p>
        </p:txBody>
      </p: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EF9F9971-0AAA-431F-AE34-D7EAF059DC96}"/>
              </a:ext>
            </a:extLst>
          </p:cNvPr>
          <p:cNvCxnSpPr>
            <a:cxnSpLocks/>
          </p:cNvCxnSpPr>
          <p:nvPr/>
        </p:nvCxnSpPr>
        <p:spPr>
          <a:xfrm flipH="1">
            <a:off x="2641697" y="3446261"/>
            <a:ext cx="607532" cy="1913031"/>
          </a:xfrm>
          <a:prstGeom prst="straightConnector1">
            <a:avLst/>
          </a:prstGeom>
          <a:ln w="12700">
            <a:solidFill>
              <a:srgbClr val="0070C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ED930593-C4FB-446A-BCB4-ADF7E29DCBBA}"/>
              </a:ext>
            </a:extLst>
          </p:cNvPr>
          <p:cNvSpPr txBox="1"/>
          <p:nvPr/>
        </p:nvSpPr>
        <p:spPr>
          <a:xfrm rot="17344752">
            <a:off x="3684927" y="4033084"/>
            <a:ext cx="104789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400" dirty="0" err="1">
                <a:solidFill>
                  <a:srgbClr val="0070C0"/>
                </a:solidFill>
              </a:rPr>
              <a:t>HeightB</a:t>
            </a:r>
            <a:endParaRPr lang="en-US" sz="1400" dirty="0">
              <a:solidFill>
                <a:srgbClr val="0070C0"/>
              </a:solidFill>
            </a:endParaRPr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64D0540A-5A0D-4711-8E28-8FEB428964BE}"/>
              </a:ext>
            </a:extLst>
          </p:cNvPr>
          <p:cNvCxnSpPr>
            <a:cxnSpLocks/>
          </p:cNvCxnSpPr>
          <p:nvPr/>
        </p:nvCxnSpPr>
        <p:spPr>
          <a:xfrm flipH="1">
            <a:off x="3573958" y="3286924"/>
            <a:ext cx="784207" cy="2378883"/>
          </a:xfrm>
          <a:prstGeom prst="straightConnector1">
            <a:avLst/>
          </a:prstGeom>
          <a:ln w="12700">
            <a:solidFill>
              <a:srgbClr val="0070C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uadroTexto 44">
            <a:extLst>
              <a:ext uri="{FF2B5EF4-FFF2-40B4-BE49-F238E27FC236}">
                <a16:creationId xmlns:a16="http://schemas.microsoft.com/office/drawing/2014/main" id="{478A6C18-A4ED-466C-8B22-F10411FA39F8}"/>
              </a:ext>
            </a:extLst>
          </p:cNvPr>
          <p:cNvSpPr txBox="1"/>
          <p:nvPr/>
        </p:nvSpPr>
        <p:spPr>
          <a:xfrm rot="1039421">
            <a:off x="4105254" y="3116154"/>
            <a:ext cx="1047894" cy="307777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400" dirty="0" err="1">
                <a:solidFill>
                  <a:srgbClr val="0070C0"/>
                </a:solidFill>
              </a:rPr>
              <a:t>HeightC</a:t>
            </a:r>
            <a:endParaRPr lang="en-US" sz="1400" dirty="0">
              <a:solidFill>
                <a:srgbClr val="0070C0"/>
              </a:solidFill>
            </a:endParaRPr>
          </a:p>
        </p:txBody>
      </p: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A0A7294A-8CA6-4031-80E6-65AC3116495A}"/>
              </a:ext>
            </a:extLst>
          </p:cNvPr>
          <p:cNvCxnSpPr>
            <a:cxnSpLocks/>
          </p:cNvCxnSpPr>
          <p:nvPr/>
        </p:nvCxnSpPr>
        <p:spPr>
          <a:xfrm flipH="1">
            <a:off x="4300245" y="3114311"/>
            <a:ext cx="45766" cy="155732"/>
          </a:xfrm>
          <a:prstGeom prst="straightConnector1">
            <a:avLst/>
          </a:prstGeom>
          <a:ln w="6350">
            <a:solidFill>
              <a:srgbClr val="0070C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uadroTexto 52">
            <a:extLst>
              <a:ext uri="{FF2B5EF4-FFF2-40B4-BE49-F238E27FC236}">
                <a16:creationId xmlns:a16="http://schemas.microsoft.com/office/drawing/2014/main" id="{74DE797B-CBF1-4CFE-851D-35E378E80535}"/>
              </a:ext>
            </a:extLst>
          </p:cNvPr>
          <p:cNvSpPr txBox="1"/>
          <p:nvPr/>
        </p:nvSpPr>
        <p:spPr>
          <a:xfrm>
            <a:off x="3573665" y="2437281"/>
            <a:ext cx="254781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400" dirty="0" err="1">
                <a:solidFill>
                  <a:srgbClr val="0070C0"/>
                </a:solidFill>
              </a:rPr>
              <a:t>mMTriangularSupportThickness</a:t>
            </a:r>
            <a:endParaRPr lang="en-US" sz="1400" dirty="0">
              <a:solidFill>
                <a:srgbClr val="0070C0"/>
              </a:solidFill>
            </a:endParaRPr>
          </a:p>
        </p:txBody>
      </p:sp>
      <p:cxnSp>
        <p:nvCxnSpPr>
          <p:cNvPr id="54" name="Conector recto de flecha 53">
            <a:extLst>
              <a:ext uri="{FF2B5EF4-FFF2-40B4-BE49-F238E27FC236}">
                <a16:creationId xmlns:a16="http://schemas.microsoft.com/office/drawing/2014/main" id="{AC1FE696-619E-4906-A090-224BB295A50C}"/>
              </a:ext>
            </a:extLst>
          </p:cNvPr>
          <p:cNvCxnSpPr>
            <a:cxnSpLocks/>
          </p:cNvCxnSpPr>
          <p:nvPr/>
        </p:nvCxnSpPr>
        <p:spPr>
          <a:xfrm flipV="1">
            <a:off x="3575560" y="2252321"/>
            <a:ext cx="219166" cy="563761"/>
          </a:xfrm>
          <a:prstGeom prst="straightConnector1">
            <a:avLst/>
          </a:prstGeom>
          <a:ln w="12700">
            <a:solidFill>
              <a:srgbClr val="0070C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uadroTexto 58">
            <a:extLst>
              <a:ext uri="{FF2B5EF4-FFF2-40B4-BE49-F238E27FC236}">
                <a16:creationId xmlns:a16="http://schemas.microsoft.com/office/drawing/2014/main" id="{9C0EA205-B5EB-4E2B-A3DA-73689B95754A}"/>
              </a:ext>
            </a:extLst>
          </p:cNvPr>
          <p:cNvSpPr txBox="1"/>
          <p:nvPr/>
        </p:nvSpPr>
        <p:spPr>
          <a:xfrm>
            <a:off x="118860" y="5644283"/>
            <a:ext cx="254781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400" dirty="0" err="1">
                <a:solidFill>
                  <a:srgbClr val="0070C0"/>
                </a:solidFill>
              </a:rPr>
              <a:t>capBaseSupportThickness</a:t>
            </a:r>
            <a:endParaRPr lang="en-US" sz="1400" dirty="0">
              <a:solidFill>
                <a:srgbClr val="0070C0"/>
              </a:solidFill>
            </a:endParaRPr>
          </a:p>
        </p:txBody>
      </p:sp>
      <p:cxnSp>
        <p:nvCxnSpPr>
          <p:cNvPr id="60" name="Conector recto de flecha 59">
            <a:extLst>
              <a:ext uri="{FF2B5EF4-FFF2-40B4-BE49-F238E27FC236}">
                <a16:creationId xmlns:a16="http://schemas.microsoft.com/office/drawing/2014/main" id="{AE376574-23EA-4835-A304-8102EDDC354E}"/>
              </a:ext>
            </a:extLst>
          </p:cNvPr>
          <p:cNvCxnSpPr>
            <a:cxnSpLocks/>
          </p:cNvCxnSpPr>
          <p:nvPr/>
        </p:nvCxnSpPr>
        <p:spPr>
          <a:xfrm flipV="1">
            <a:off x="2291478" y="5586413"/>
            <a:ext cx="142160" cy="389374"/>
          </a:xfrm>
          <a:prstGeom prst="straightConnector1">
            <a:avLst/>
          </a:prstGeom>
          <a:ln w="12700">
            <a:solidFill>
              <a:srgbClr val="0070C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DED6F40D-CE17-47E8-AA6C-C8A9B258579C}"/>
              </a:ext>
            </a:extLst>
          </p:cNvPr>
          <p:cNvCxnSpPr>
            <a:cxnSpLocks/>
          </p:cNvCxnSpPr>
          <p:nvPr/>
        </p:nvCxnSpPr>
        <p:spPr>
          <a:xfrm flipH="1" flipV="1">
            <a:off x="3491539" y="5215046"/>
            <a:ext cx="156657" cy="36530"/>
          </a:xfrm>
          <a:prstGeom prst="straightConnector1">
            <a:avLst/>
          </a:prstGeom>
          <a:ln w="12700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BA8F25C3-956D-41B1-9731-854F3E71A5D1}"/>
              </a:ext>
            </a:extLst>
          </p:cNvPr>
          <p:cNvSpPr txBox="1"/>
          <p:nvPr/>
        </p:nvSpPr>
        <p:spPr>
          <a:xfrm>
            <a:off x="3437462" y="5005584"/>
            <a:ext cx="2900447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400" dirty="0" err="1">
                <a:solidFill>
                  <a:srgbClr val="00B050"/>
                </a:solidFill>
              </a:rPr>
              <a:t>capSupportColumnProtrusionAtoB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19481FB1-A313-40CD-9B68-E1FA02818C1E}"/>
              </a:ext>
            </a:extLst>
          </p:cNvPr>
          <p:cNvSpPr txBox="1"/>
          <p:nvPr/>
        </p:nvSpPr>
        <p:spPr>
          <a:xfrm>
            <a:off x="3136143" y="5624915"/>
            <a:ext cx="254781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400" dirty="0" err="1">
                <a:solidFill>
                  <a:srgbClr val="0070C0"/>
                </a:solidFill>
              </a:rPr>
              <a:t>capSupportColumnBtoBase</a:t>
            </a:r>
            <a:endParaRPr lang="en-US" sz="1400" dirty="0">
              <a:solidFill>
                <a:srgbClr val="0070C0"/>
              </a:solidFill>
            </a:endParaRPr>
          </a:p>
        </p:txBody>
      </p:sp>
      <p:cxnSp>
        <p:nvCxnSpPr>
          <p:cNvPr id="75" name="Conector recto de flecha 74">
            <a:extLst>
              <a:ext uri="{FF2B5EF4-FFF2-40B4-BE49-F238E27FC236}">
                <a16:creationId xmlns:a16="http://schemas.microsoft.com/office/drawing/2014/main" id="{2878CDEC-9782-4110-A19E-CB02778DF1A6}"/>
              </a:ext>
            </a:extLst>
          </p:cNvPr>
          <p:cNvCxnSpPr>
            <a:cxnSpLocks/>
          </p:cNvCxnSpPr>
          <p:nvPr/>
        </p:nvCxnSpPr>
        <p:spPr>
          <a:xfrm flipV="1">
            <a:off x="3400782" y="5581038"/>
            <a:ext cx="59436" cy="169538"/>
          </a:xfrm>
          <a:prstGeom prst="straightConnector1">
            <a:avLst/>
          </a:prstGeom>
          <a:ln w="12700">
            <a:solidFill>
              <a:srgbClr val="0070C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CuadroTexto 81">
            <a:extLst>
              <a:ext uri="{FF2B5EF4-FFF2-40B4-BE49-F238E27FC236}">
                <a16:creationId xmlns:a16="http://schemas.microsoft.com/office/drawing/2014/main" id="{34BA2A55-EB97-43C6-82FB-CFF7843E483A}"/>
              </a:ext>
            </a:extLst>
          </p:cNvPr>
          <p:cNvSpPr txBox="1"/>
          <p:nvPr/>
        </p:nvSpPr>
        <p:spPr>
          <a:xfrm rot="20131495">
            <a:off x="8417306" y="3985878"/>
            <a:ext cx="104789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400" dirty="0" err="1">
                <a:solidFill>
                  <a:srgbClr val="0070C0"/>
                </a:solidFill>
              </a:rPr>
              <a:t>capSupportFinalHeight</a:t>
            </a:r>
            <a:endParaRPr lang="en-US" sz="1400" dirty="0">
              <a:solidFill>
                <a:srgbClr val="0070C0"/>
              </a:solidFill>
            </a:endParaRPr>
          </a:p>
        </p:txBody>
      </p:sp>
      <p:cxnSp>
        <p:nvCxnSpPr>
          <p:cNvPr id="83" name="Conector recto de flecha 82">
            <a:extLst>
              <a:ext uri="{FF2B5EF4-FFF2-40B4-BE49-F238E27FC236}">
                <a16:creationId xmlns:a16="http://schemas.microsoft.com/office/drawing/2014/main" id="{9AD65E94-A11A-41DD-A648-0B36F4A52A6B}"/>
              </a:ext>
            </a:extLst>
          </p:cNvPr>
          <p:cNvCxnSpPr>
            <a:cxnSpLocks/>
          </p:cNvCxnSpPr>
          <p:nvPr/>
        </p:nvCxnSpPr>
        <p:spPr>
          <a:xfrm flipH="1">
            <a:off x="8137525" y="3721101"/>
            <a:ext cx="1412779" cy="654622"/>
          </a:xfrm>
          <a:prstGeom prst="straightConnector1">
            <a:avLst/>
          </a:prstGeom>
          <a:ln w="12700">
            <a:solidFill>
              <a:srgbClr val="0070C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4433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4DB2285-5D05-467E-84BC-DC93C6E334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04"/>
          <a:stretch/>
        </p:blipFill>
        <p:spPr>
          <a:xfrm>
            <a:off x="0" y="1255812"/>
            <a:ext cx="5556250" cy="557678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AF547BC-0FF4-4CCA-B8C2-CA1A3C376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0" y="130175"/>
            <a:ext cx="10515600" cy="1325563"/>
          </a:xfrm>
        </p:spPr>
        <p:txBody>
          <a:bodyPr/>
          <a:lstStyle/>
          <a:p>
            <a:r>
              <a:rPr lang="es-ES" dirty="0" err="1"/>
              <a:t>mMBoard</a:t>
            </a:r>
            <a:endParaRPr lang="en-U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7066F49-0B9A-4D18-B8F3-BAC557485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345" y="0"/>
            <a:ext cx="5406677" cy="6858076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EE61D2A-C9E8-4A4D-9D63-86BE203359FA}"/>
              </a:ext>
            </a:extLst>
          </p:cNvPr>
          <p:cNvSpPr txBox="1"/>
          <p:nvPr/>
        </p:nvSpPr>
        <p:spPr>
          <a:xfrm rot="1397142">
            <a:off x="1023220" y="4455098"/>
            <a:ext cx="3048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rgbClr val="FF0000"/>
                </a:solidFill>
              </a:rPr>
              <a:t>mMBoardLength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CBAEBB6A-6A78-4F61-86E6-DC2E84B8F6D7}"/>
              </a:ext>
            </a:extLst>
          </p:cNvPr>
          <p:cNvCxnSpPr>
            <a:cxnSpLocks/>
          </p:cNvCxnSpPr>
          <p:nvPr/>
        </p:nvCxnSpPr>
        <p:spPr>
          <a:xfrm flipH="1" flipV="1">
            <a:off x="1456087" y="3998804"/>
            <a:ext cx="2360263" cy="1043096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3003C0E-7846-427F-B8AA-9F103AD32895}"/>
              </a:ext>
            </a:extLst>
          </p:cNvPr>
          <p:cNvSpPr txBox="1"/>
          <p:nvPr/>
        </p:nvSpPr>
        <p:spPr>
          <a:xfrm rot="19449770">
            <a:off x="2149600" y="3251320"/>
            <a:ext cx="2767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solidFill>
                  <a:srgbClr val="FFC000"/>
                </a:solidFill>
              </a:rPr>
              <a:t>mMBoardRadius</a:t>
            </a:r>
            <a:endParaRPr lang="en-US" dirty="0">
              <a:solidFill>
                <a:srgbClr val="FFC000"/>
              </a:solidFill>
            </a:endParaRP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226236A6-9847-412A-9162-FECF60C2597A}"/>
              </a:ext>
            </a:extLst>
          </p:cNvPr>
          <p:cNvCxnSpPr>
            <a:cxnSpLocks/>
          </p:cNvCxnSpPr>
          <p:nvPr/>
        </p:nvCxnSpPr>
        <p:spPr>
          <a:xfrm flipV="1">
            <a:off x="2562560" y="3536322"/>
            <a:ext cx="1253790" cy="924964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B5346AA-0175-4635-A482-9D668E8080BF}"/>
              </a:ext>
            </a:extLst>
          </p:cNvPr>
          <p:cNvSpPr txBox="1"/>
          <p:nvPr/>
        </p:nvSpPr>
        <p:spPr>
          <a:xfrm rot="20587918">
            <a:off x="7756857" y="2482298"/>
            <a:ext cx="3048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rgbClr val="FF0000"/>
                </a:solidFill>
              </a:rPr>
              <a:t>mMBaseBracketLength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5226CFDE-7FD2-4B38-9FE9-9BA9453A7334}"/>
              </a:ext>
            </a:extLst>
          </p:cNvPr>
          <p:cNvCxnSpPr>
            <a:cxnSpLocks/>
          </p:cNvCxnSpPr>
          <p:nvPr/>
        </p:nvCxnSpPr>
        <p:spPr>
          <a:xfrm flipH="1">
            <a:off x="8324646" y="2305050"/>
            <a:ext cx="1746454" cy="547200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E2A260F-0832-43AE-9343-93CBA4A53ECB}"/>
              </a:ext>
            </a:extLst>
          </p:cNvPr>
          <p:cNvSpPr txBox="1"/>
          <p:nvPr/>
        </p:nvSpPr>
        <p:spPr>
          <a:xfrm rot="20936526">
            <a:off x="7292558" y="1972322"/>
            <a:ext cx="377761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400" dirty="0" err="1">
                <a:solidFill>
                  <a:srgbClr val="00B050"/>
                </a:solidFill>
              </a:rPr>
              <a:t>mmBaseBracketWidth</a:t>
            </a:r>
            <a:endParaRPr lang="en-US" sz="1400" dirty="0">
              <a:solidFill>
                <a:srgbClr val="00B050"/>
              </a:solidFill>
            </a:endParaRP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D816864D-90E4-4213-8419-5955EBBA99E9}"/>
              </a:ext>
            </a:extLst>
          </p:cNvPr>
          <p:cNvCxnSpPr>
            <a:cxnSpLocks/>
          </p:cNvCxnSpPr>
          <p:nvPr/>
        </p:nvCxnSpPr>
        <p:spPr>
          <a:xfrm flipH="1" flipV="1">
            <a:off x="8324646" y="2092958"/>
            <a:ext cx="98176" cy="523676"/>
          </a:xfrm>
          <a:prstGeom prst="straightConnector1">
            <a:avLst/>
          </a:prstGeom>
          <a:ln w="28575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B2F628A1-8DD0-4BC1-919E-264A9BF3FC3F}"/>
              </a:ext>
            </a:extLst>
          </p:cNvPr>
          <p:cNvSpPr txBox="1"/>
          <p:nvPr/>
        </p:nvSpPr>
        <p:spPr>
          <a:xfrm rot="20973581">
            <a:off x="7709058" y="1565384"/>
            <a:ext cx="377761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400" dirty="0" err="1">
                <a:solidFill>
                  <a:srgbClr val="00B050"/>
                </a:solidFill>
              </a:rPr>
              <a:t>mMBaseEndToBracketDistance</a:t>
            </a:r>
            <a:endParaRPr lang="en-US" sz="1400" dirty="0">
              <a:solidFill>
                <a:srgbClr val="00B050"/>
              </a:solidFill>
            </a:endParaRP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44961E8A-0289-4B7C-A4A7-106545CE8A30}"/>
              </a:ext>
            </a:extLst>
          </p:cNvPr>
          <p:cNvCxnSpPr>
            <a:cxnSpLocks/>
          </p:cNvCxnSpPr>
          <p:nvPr/>
        </p:nvCxnSpPr>
        <p:spPr>
          <a:xfrm flipH="1" flipV="1">
            <a:off x="8372833" y="1822554"/>
            <a:ext cx="61125" cy="249155"/>
          </a:xfrm>
          <a:prstGeom prst="straightConnector1">
            <a:avLst/>
          </a:prstGeom>
          <a:ln w="28575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512E8567-269B-49E5-9545-2C1E384FA292}"/>
              </a:ext>
            </a:extLst>
          </p:cNvPr>
          <p:cNvSpPr txBox="1"/>
          <p:nvPr/>
        </p:nvSpPr>
        <p:spPr>
          <a:xfrm rot="20982887">
            <a:off x="7306585" y="1054940"/>
            <a:ext cx="3048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rgbClr val="FF0000"/>
                </a:solidFill>
              </a:rPr>
              <a:t>rollerCylinderLength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E3611514-2243-496C-971A-9F8C82F3B2FC}"/>
              </a:ext>
            </a:extLst>
          </p:cNvPr>
          <p:cNvCxnSpPr>
            <a:cxnSpLocks/>
          </p:cNvCxnSpPr>
          <p:nvPr/>
        </p:nvCxnSpPr>
        <p:spPr>
          <a:xfrm flipH="1">
            <a:off x="8077200" y="1260689"/>
            <a:ext cx="1520663" cy="292090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027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D8DD04-4AB2-4943-B0F2-1B7185209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s-ES" dirty="0" err="1"/>
              <a:t>mMBoard</a:t>
            </a:r>
            <a:r>
              <a:rPr lang="es-ES" dirty="0"/>
              <a:t> – </a:t>
            </a:r>
            <a:r>
              <a:rPr lang="es-ES" dirty="0" err="1"/>
              <a:t>thickness</a:t>
            </a:r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E445685-B4BF-40CA-8CA4-6740D5D415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010" r="15337" b="48911"/>
          <a:stretch/>
        </p:blipFill>
        <p:spPr>
          <a:xfrm>
            <a:off x="6096000" y="1427790"/>
            <a:ext cx="5955176" cy="512541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E2A9DF2-F42B-4D89-B613-629873F66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7107"/>
            <a:ext cx="6809323" cy="132556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0434B12-8B60-4781-AEF5-5F2F04F1E411}"/>
              </a:ext>
            </a:extLst>
          </p:cNvPr>
          <p:cNvSpPr txBox="1"/>
          <p:nvPr/>
        </p:nvSpPr>
        <p:spPr>
          <a:xfrm>
            <a:off x="4150045" y="5641903"/>
            <a:ext cx="377761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rgbClr val="0070C0"/>
                </a:solidFill>
              </a:rPr>
              <a:t>mMBoardThickness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6BE9D16A-DFCD-4934-B29C-D76889E126F4}"/>
              </a:ext>
            </a:extLst>
          </p:cNvPr>
          <p:cNvCxnSpPr>
            <a:cxnSpLocks/>
          </p:cNvCxnSpPr>
          <p:nvPr/>
        </p:nvCxnSpPr>
        <p:spPr>
          <a:xfrm flipH="1">
            <a:off x="6983600" y="5826569"/>
            <a:ext cx="706250" cy="0"/>
          </a:xfrm>
          <a:prstGeom prst="straightConnector1">
            <a:avLst/>
          </a:prstGeom>
          <a:ln w="38100">
            <a:solidFill>
              <a:srgbClr val="0070C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AC5E318-63DA-4848-8665-219CC8E8F229}"/>
              </a:ext>
            </a:extLst>
          </p:cNvPr>
          <p:cNvSpPr txBox="1"/>
          <p:nvPr/>
        </p:nvSpPr>
        <p:spPr>
          <a:xfrm>
            <a:off x="3205990" y="4217916"/>
            <a:ext cx="377761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s-ES" dirty="0" err="1">
                <a:solidFill>
                  <a:srgbClr val="0070C0"/>
                </a:solidFill>
              </a:rPr>
              <a:t>mMCopperFoilThickness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BCAEC1A6-4C25-42C4-920E-E54B0152EC25}"/>
              </a:ext>
            </a:extLst>
          </p:cNvPr>
          <p:cNvCxnSpPr>
            <a:cxnSpLocks/>
          </p:cNvCxnSpPr>
          <p:nvPr/>
        </p:nvCxnSpPr>
        <p:spPr>
          <a:xfrm flipH="1">
            <a:off x="6947467" y="4402582"/>
            <a:ext cx="274450" cy="0"/>
          </a:xfrm>
          <a:prstGeom prst="straightConnector1">
            <a:avLst/>
          </a:prstGeom>
          <a:ln w="38100">
            <a:solidFill>
              <a:srgbClr val="0070C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78A8175-DE9D-4098-8594-8F8D9ED47793}"/>
              </a:ext>
            </a:extLst>
          </p:cNvPr>
          <p:cNvSpPr txBox="1"/>
          <p:nvPr/>
        </p:nvSpPr>
        <p:spPr>
          <a:xfrm>
            <a:off x="7101301" y="3931023"/>
            <a:ext cx="377761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rgbClr val="0070C0"/>
                </a:solidFill>
              </a:rPr>
              <a:t>mMBoardFoldInnerRadius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69910E6A-86B8-453A-B2B6-1F3EBAB5A8E8}"/>
              </a:ext>
            </a:extLst>
          </p:cNvPr>
          <p:cNvCxnSpPr>
            <a:cxnSpLocks/>
          </p:cNvCxnSpPr>
          <p:nvPr/>
        </p:nvCxnSpPr>
        <p:spPr>
          <a:xfrm flipH="1">
            <a:off x="7759888" y="3833813"/>
            <a:ext cx="2460437" cy="66214"/>
          </a:xfrm>
          <a:prstGeom prst="straightConnector1">
            <a:avLst/>
          </a:prstGeom>
          <a:ln w="38100">
            <a:solidFill>
              <a:srgbClr val="0070C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5646FD9-435F-4A75-A783-8E1029368482}"/>
              </a:ext>
            </a:extLst>
          </p:cNvPr>
          <p:cNvSpPr txBox="1"/>
          <p:nvPr/>
        </p:nvSpPr>
        <p:spPr>
          <a:xfrm>
            <a:off x="4049465" y="3438247"/>
            <a:ext cx="377761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s-ES" dirty="0" err="1">
                <a:solidFill>
                  <a:srgbClr val="FF00FF"/>
                </a:solidFill>
              </a:rPr>
              <a:t>thickness_below_in_mm</a:t>
            </a:r>
            <a:endParaRPr lang="en-US" dirty="0">
              <a:solidFill>
                <a:srgbClr val="FF00FF"/>
              </a:solidFill>
            </a:endParaRP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A57D28B1-DC9F-48DB-A334-7A1776B62879}"/>
              </a:ext>
            </a:extLst>
          </p:cNvPr>
          <p:cNvCxnSpPr>
            <a:cxnSpLocks/>
          </p:cNvCxnSpPr>
          <p:nvPr/>
        </p:nvCxnSpPr>
        <p:spPr>
          <a:xfrm flipH="1">
            <a:off x="7552625" y="3818826"/>
            <a:ext cx="274450" cy="0"/>
          </a:xfrm>
          <a:prstGeom prst="straightConnector1">
            <a:avLst/>
          </a:prstGeom>
          <a:ln w="38100">
            <a:solidFill>
              <a:srgbClr val="FF00FF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3FDD7FA5-22DF-486D-BB26-E8407E11E317}"/>
              </a:ext>
            </a:extLst>
          </p:cNvPr>
          <p:cNvCxnSpPr>
            <a:cxnSpLocks/>
          </p:cNvCxnSpPr>
          <p:nvPr/>
        </p:nvCxnSpPr>
        <p:spPr>
          <a:xfrm flipH="1">
            <a:off x="7603104" y="4402582"/>
            <a:ext cx="274450" cy="0"/>
          </a:xfrm>
          <a:prstGeom prst="straightConnector1">
            <a:avLst/>
          </a:prstGeom>
          <a:ln w="38100">
            <a:solidFill>
              <a:srgbClr val="0070C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6AC06F6-B5CB-4BA5-B5DD-C4CC4CF8F223}"/>
              </a:ext>
            </a:extLst>
          </p:cNvPr>
          <p:cNvSpPr txBox="1"/>
          <p:nvPr/>
        </p:nvSpPr>
        <p:spPr>
          <a:xfrm>
            <a:off x="69582" y="2285109"/>
            <a:ext cx="470720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micromegas</a:t>
            </a:r>
            <a:r>
              <a:rPr lang="es-ES" sz="1600" dirty="0"/>
              <a:t> has 4 </a:t>
            </a:r>
            <a:r>
              <a:rPr lang="es-ES" sz="1600" dirty="0" err="1"/>
              <a:t>copper</a:t>
            </a:r>
            <a:r>
              <a:rPr lang="es-ES" sz="1600" dirty="0"/>
              <a:t> </a:t>
            </a:r>
            <a:r>
              <a:rPr lang="es-ES" sz="1600" dirty="0" err="1"/>
              <a:t>layers</a:t>
            </a:r>
            <a:r>
              <a:rPr lang="es-ES" sz="1600" dirty="0"/>
              <a:t> (</a:t>
            </a:r>
            <a:r>
              <a:rPr lang="es-ES" sz="1600" dirty="0" err="1"/>
              <a:t>mesh</a:t>
            </a:r>
            <a:r>
              <a:rPr lang="es-ES" sz="1600" dirty="0"/>
              <a:t>, X </a:t>
            </a:r>
            <a:r>
              <a:rPr lang="es-ES" sz="1600" dirty="0" err="1"/>
              <a:t>strips</a:t>
            </a:r>
            <a:r>
              <a:rPr lang="es-ES" sz="1600" dirty="0"/>
              <a:t>, Y </a:t>
            </a:r>
            <a:r>
              <a:rPr lang="es-ES" sz="1600" dirty="0" err="1"/>
              <a:t>strips</a:t>
            </a:r>
            <a:r>
              <a:rPr lang="es-ES" sz="1600" dirty="0"/>
              <a:t>, </a:t>
            </a:r>
            <a:r>
              <a:rPr lang="es-ES" sz="1600" dirty="0" err="1"/>
              <a:t>grounding</a:t>
            </a:r>
            <a:r>
              <a:rPr lang="es-ES" sz="1600" dirty="0"/>
              <a:t>) </a:t>
            </a:r>
            <a:r>
              <a:rPr lang="es-ES" sz="1600" dirty="0" err="1"/>
              <a:t>of</a:t>
            </a:r>
            <a:r>
              <a:rPr lang="es-ES" sz="1600" dirty="0"/>
              <a:t> 17um </a:t>
            </a:r>
            <a:r>
              <a:rPr lang="es-ES" sz="1600" dirty="0" err="1"/>
              <a:t>thickness</a:t>
            </a:r>
            <a:r>
              <a:rPr lang="es-ES" sz="1600" dirty="0"/>
              <a:t> </a:t>
            </a:r>
            <a:r>
              <a:rPr lang="es-ES" sz="1600" dirty="0" err="1"/>
              <a:t>separated</a:t>
            </a:r>
            <a:r>
              <a:rPr lang="es-ES" sz="1600" dirty="0"/>
              <a:t> </a:t>
            </a:r>
            <a:r>
              <a:rPr lang="es-ES" sz="1600" dirty="0" err="1"/>
              <a:t>by</a:t>
            </a:r>
            <a:r>
              <a:rPr lang="es-ES" sz="1600" dirty="0"/>
              <a:t> 2 </a:t>
            </a:r>
            <a:r>
              <a:rPr lang="es-ES" sz="1600" dirty="0" err="1"/>
              <a:t>kapton</a:t>
            </a:r>
            <a:r>
              <a:rPr lang="es-ES" sz="1600" dirty="0"/>
              <a:t> </a:t>
            </a:r>
            <a:r>
              <a:rPr lang="es-ES" sz="1600" dirty="0" err="1"/>
              <a:t>layers</a:t>
            </a:r>
            <a:r>
              <a:rPr lang="es-ES" sz="1600" dirty="0"/>
              <a:t> </a:t>
            </a:r>
            <a:r>
              <a:rPr lang="es-ES" sz="1600" dirty="0" err="1"/>
              <a:t>of</a:t>
            </a:r>
            <a:r>
              <a:rPr lang="es-ES" sz="1600" dirty="0"/>
              <a:t> 50um (</a:t>
            </a:r>
            <a:r>
              <a:rPr lang="es-ES" sz="1600" dirty="0" err="1"/>
              <a:t>amplification</a:t>
            </a:r>
            <a:r>
              <a:rPr lang="es-ES" sz="1600" dirty="0"/>
              <a:t> gap) and </a:t>
            </a:r>
            <a:r>
              <a:rPr lang="es-ES" sz="1600" dirty="0" err="1"/>
              <a:t>another</a:t>
            </a:r>
            <a:r>
              <a:rPr lang="es-ES" sz="1600" dirty="0"/>
              <a:t> </a:t>
            </a:r>
            <a:r>
              <a:rPr lang="es-ES" sz="1600" dirty="0" err="1"/>
              <a:t>one</a:t>
            </a:r>
            <a:r>
              <a:rPr lang="es-ES" sz="1600" dirty="0"/>
              <a:t> </a:t>
            </a:r>
            <a:r>
              <a:rPr lang="es-ES" sz="1600" dirty="0" err="1"/>
              <a:t>of</a:t>
            </a:r>
            <a:r>
              <a:rPr lang="es-ES" sz="1600" dirty="0"/>
              <a:t> 150um </a:t>
            </a:r>
            <a:r>
              <a:rPr lang="es-ES" sz="1600" dirty="0" err="1"/>
              <a:t>thickness</a:t>
            </a:r>
            <a:r>
              <a:rPr lang="es-ES" sz="1600" dirty="0"/>
              <a:t>. </a:t>
            </a:r>
            <a:r>
              <a:rPr lang="es-ES" sz="1600" i="1" dirty="0" err="1"/>
              <a:t>See</a:t>
            </a:r>
            <a:r>
              <a:rPr lang="es-ES" sz="1600" i="1" dirty="0"/>
              <a:t> </a:t>
            </a:r>
            <a:r>
              <a:rPr lang="es-ES" sz="1600" i="1" dirty="0" err="1"/>
              <a:t>Hector</a:t>
            </a:r>
            <a:r>
              <a:rPr lang="es-ES" sz="1600" i="1" dirty="0"/>
              <a:t> </a:t>
            </a:r>
            <a:r>
              <a:rPr lang="es-ES" sz="1600" i="1" dirty="0" err="1"/>
              <a:t>Mirallas</a:t>
            </a:r>
            <a:r>
              <a:rPr lang="es-ES" sz="1600" i="1" dirty="0"/>
              <a:t> </a:t>
            </a:r>
            <a:r>
              <a:rPr lang="es-ES" sz="1600" i="1" dirty="0" err="1"/>
              <a:t>thesis</a:t>
            </a:r>
            <a:r>
              <a:rPr lang="es-ES" sz="1600" i="1" dirty="0"/>
              <a:t>.</a:t>
            </a:r>
          </a:p>
          <a:p>
            <a:endParaRPr lang="es-ES" sz="1600" dirty="0"/>
          </a:p>
          <a:p>
            <a:r>
              <a:rPr lang="es-ES" sz="1600" dirty="0" err="1"/>
              <a:t>For</a:t>
            </a:r>
            <a:r>
              <a:rPr lang="es-ES" sz="1600" dirty="0"/>
              <a:t> </a:t>
            </a:r>
            <a:r>
              <a:rPr lang="es-ES" sz="1600" dirty="0" err="1"/>
              <a:t>simplicity</a:t>
            </a:r>
            <a:r>
              <a:rPr lang="es-ES" sz="1600" dirty="0"/>
              <a:t>, </a:t>
            </a:r>
            <a:r>
              <a:rPr lang="es-ES" sz="1600" dirty="0" err="1"/>
              <a:t>we</a:t>
            </a:r>
            <a:r>
              <a:rPr lang="es-ES" sz="1600" dirty="0"/>
              <a:t> </a:t>
            </a:r>
            <a:r>
              <a:rPr lang="es-ES" sz="1600" dirty="0" err="1"/>
              <a:t>model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mM</a:t>
            </a:r>
            <a:r>
              <a:rPr lang="es-ES" sz="1600" dirty="0"/>
              <a:t> </a:t>
            </a:r>
            <a:r>
              <a:rPr lang="es-ES" sz="1600" dirty="0" err="1"/>
              <a:t>board</a:t>
            </a:r>
            <a:r>
              <a:rPr lang="es-ES" sz="1600" dirty="0"/>
              <a:t> as a </a:t>
            </a:r>
            <a:r>
              <a:rPr lang="es-ES" sz="1600" dirty="0" err="1"/>
              <a:t>sandwich</a:t>
            </a:r>
            <a:r>
              <a:rPr lang="es-ES" sz="1600" dirty="0"/>
              <a:t> </a:t>
            </a:r>
            <a:r>
              <a:rPr lang="es-ES" sz="1600" dirty="0" err="1"/>
              <a:t>of</a:t>
            </a:r>
            <a:r>
              <a:rPr lang="es-ES" sz="1600" dirty="0"/>
              <a:t> </a:t>
            </a:r>
            <a:r>
              <a:rPr lang="es-ES" sz="1600" dirty="0" err="1"/>
              <a:t>copper-kapton-copper</a:t>
            </a:r>
            <a:r>
              <a:rPr lang="es-ES" sz="1600" dirty="0"/>
              <a:t>, </a:t>
            </a:r>
            <a:r>
              <a:rPr lang="es-ES" sz="1600" dirty="0" err="1"/>
              <a:t>omiting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internal</a:t>
            </a:r>
            <a:r>
              <a:rPr lang="es-ES" sz="1600" dirty="0"/>
              <a:t> 2 </a:t>
            </a:r>
            <a:r>
              <a:rPr lang="es-ES" sz="1600" dirty="0" err="1"/>
              <a:t>layers</a:t>
            </a:r>
            <a:r>
              <a:rPr lang="es-ES" sz="1600" dirty="0"/>
              <a:t> </a:t>
            </a:r>
            <a:r>
              <a:rPr lang="es-ES" sz="1600" dirty="0" err="1"/>
              <a:t>of</a:t>
            </a:r>
            <a:r>
              <a:rPr lang="es-ES" sz="1600" dirty="0"/>
              <a:t> </a:t>
            </a:r>
            <a:r>
              <a:rPr lang="es-ES" sz="1600" dirty="0" err="1"/>
              <a:t>copper</a:t>
            </a:r>
            <a:r>
              <a:rPr lang="es-ES" sz="1600" dirty="0"/>
              <a:t>. </a:t>
            </a:r>
            <a:r>
              <a:rPr lang="es-ES" sz="1600" dirty="0" err="1"/>
              <a:t>But</a:t>
            </a:r>
            <a:r>
              <a:rPr lang="es-ES" sz="1600" dirty="0"/>
              <a:t>, </a:t>
            </a:r>
            <a:r>
              <a:rPr lang="es-ES" sz="1600" dirty="0" err="1"/>
              <a:t>for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micromegas</a:t>
            </a:r>
            <a:r>
              <a:rPr lang="es-ES" sz="1600" dirty="0"/>
              <a:t> active </a:t>
            </a:r>
            <a:r>
              <a:rPr lang="es-ES" sz="1600" dirty="0" err="1"/>
              <a:t>area</a:t>
            </a:r>
            <a:r>
              <a:rPr lang="es-ES" sz="1600" dirty="0"/>
              <a:t> (25cmx25cm), </a:t>
            </a:r>
            <a:r>
              <a:rPr lang="es-ES" sz="1600" dirty="0" err="1"/>
              <a:t>we</a:t>
            </a:r>
            <a:r>
              <a:rPr lang="es-ES" sz="1600" dirty="0"/>
              <a:t> do </a:t>
            </a:r>
            <a:r>
              <a:rPr lang="es-ES" sz="1600" dirty="0" err="1"/>
              <a:t>include</a:t>
            </a:r>
            <a:r>
              <a:rPr lang="es-ES" sz="1600" dirty="0"/>
              <a:t> </a:t>
            </a:r>
            <a:r>
              <a:rPr lang="es-ES" sz="1600" dirty="0" err="1"/>
              <a:t>this</a:t>
            </a:r>
            <a:r>
              <a:rPr lang="es-ES" sz="1600" dirty="0"/>
              <a:t> 2 </a:t>
            </a:r>
            <a:r>
              <a:rPr lang="es-ES" sz="1600" dirty="0" err="1"/>
              <a:t>layers</a:t>
            </a:r>
            <a:r>
              <a:rPr lang="es-ES" sz="1600" dirty="0"/>
              <a:t> </a:t>
            </a:r>
            <a:r>
              <a:rPr lang="es-ES" sz="1600" dirty="0" err="1"/>
              <a:t>of</a:t>
            </a:r>
            <a:r>
              <a:rPr lang="es-ES" sz="1600" dirty="0"/>
              <a:t> </a:t>
            </a:r>
            <a:r>
              <a:rPr lang="es-ES" sz="1600" dirty="0" err="1"/>
              <a:t>copper</a:t>
            </a:r>
            <a:r>
              <a:rPr lang="es-ES" sz="1600" dirty="0"/>
              <a:t> (mMCopperFoilLayer2,3_PV).</a:t>
            </a:r>
            <a:endParaRPr lang="en-US" sz="1600" dirty="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38D2DABB-D496-4D36-BD71-3F1D1B9BCA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77" y="4746851"/>
            <a:ext cx="4234342" cy="2085985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194F43C9-754F-40D2-A75B-B932A04CC13D}"/>
              </a:ext>
            </a:extLst>
          </p:cNvPr>
          <p:cNvSpPr txBox="1"/>
          <p:nvPr/>
        </p:nvSpPr>
        <p:spPr>
          <a:xfrm>
            <a:off x="7618072" y="6534591"/>
            <a:ext cx="31278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i="1" dirty="0"/>
              <a:t>*</a:t>
            </a:r>
            <a:r>
              <a:rPr lang="es-ES" sz="1100" i="1" dirty="0" err="1"/>
              <a:t>thickness</a:t>
            </a:r>
            <a:r>
              <a:rPr lang="es-ES" sz="1100" i="1" dirty="0"/>
              <a:t> </a:t>
            </a:r>
            <a:r>
              <a:rPr lang="es-ES" sz="1100" i="1" dirty="0" err="1"/>
              <a:t>is</a:t>
            </a:r>
            <a:r>
              <a:rPr lang="es-ES" sz="1100" i="1" dirty="0"/>
              <a:t> </a:t>
            </a:r>
            <a:r>
              <a:rPr lang="es-ES" sz="1100" i="1" dirty="0" err="1"/>
              <a:t>increased</a:t>
            </a:r>
            <a:r>
              <a:rPr lang="es-ES" sz="1100" i="1" dirty="0"/>
              <a:t> </a:t>
            </a:r>
            <a:r>
              <a:rPr lang="es-ES" sz="1100" i="1" dirty="0" err="1"/>
              <a:t>for</a:t>
            </a:r>
            <a:r>
              <a:rPr lang="es-ES" sz="1100" i="1" dirty="0"/>
              <a:t> </a:t>
            </a:r>
            <a:r>
              <a:rPr lang="es-ES" sz="1100" i="1" dirty="0" err="1"/>
              <a:t>visualization</a:t>
            </a:r>
            <a:r>
              <a:rPr lang="es-ES" sz="1100" i="1" dirty="0"/>
              <a:t> </a:t>
            </a:r>
            <a:r>
              <a:rPr lang="es-ES" sz="1100" i="1" dirty="0" err="1"/>
              <a:t>purposes</a:t>
            </a:r>
            <a:endParaRPr lang="en-US" sz="1100" i="1" dirty="0"/>
          </a:p>
        </p:txBody>
      </p:sp>
    </p:spTree>
    <p:extLst>
      <p:ext uri="{BB962C8B-B14F-4D97-AF65-F5344CB8AC3E}">
        <p14:creationId xmlns:p14="http://schemas.microsoft.com/office/powerpoint/2010/main" val="996737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8756F69C-2869-4731-86AC-6A69D6D02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4258" y="210457"/>
            <a:ext cx="5048147" cy="331891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8F07ED4-1714-4527-9E4C-6D44F9BB6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s-ES" dirty="0" err="1"/>
              <a:t>Limande</a:t>
            </a:r>
            <a:r>
              <a:rPr lang="es-ES" dirty="0"/>
              <a:t> A</a:t>
            </a: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2B1030C-CCDC-404E-A7CF-9B0AF7233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20" y="1471579"/>
            <a:ext cx="6753274" cy="470538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2A210FA9-2730-4F4C-8FFC-458ACE1E027E}"/>
              </a:ext>
            </a:extLst>
          </p:cNvPr>
          <p:cNvSpPr txBox="1"/>
          <p:nvPr/>
        </p:nvSpPr>
        <p:spPr>
          <a:xfrm rot="20404574">
            <a:off x="907702" y="2643429"/>
            <a:ext cx="2767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rgbClr val="FFC000"/>
                </a:solidFill>
              </a:rPr>
              <a:t>limandeHipotenuse</a:t>
            </a:r>
            <a:endParaRPr lang="en-US" dirty="0">
              <a:solidFill>
                <a:srgbClr val="FFC000"/>
              </a:solidFill>
            </a:endParaRP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4A0982C8-F2B0-4ADE-ACE2-8AE762FA1AE1}"/>
              </a:ext>
            </a:extLst>
          </p:cNvPr>
          <p:cNvCxnSpPr>
            <a:cxnSpLocks/>
          </p:cNvCxnSpPr>
          <p:nvPr/>
        </p:nvCxnSpPr>
        <p:spPr>
          <a:xfrm flipV="1">
            <a:off x="1279071" y="2509157"/>
            <a:ext cx="2329543" cy="882274"/>
          </a:xfrm>
          <a:prstGeom prst="straightConnector1">
            <a:avLst/>
          </a:prstGeom>
          <a:ln w="28575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E79C05F-AFB5-4D72-A001-A08D60739F27}"/>
              </a:ext>
            </a:extLst>
          </p:cNvPr>
          <p:cNvSpPr txBox="1"/>
          <p:nvPr/>
        </p:nvSpPr>
        <p:spPr>
          <a:xfrm>
            <a:off x="9659718" y="1864832"/>
            <a:ext cx="219326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s-ES" sz="1400" dirty="0" err="1">
                <a:solidFill>
                  <a:srgbClr val="00B050"/>
                </a:solidFill>
              </a:rPr>
              <a:t>limandeHalfTriangleHeight</a:t>
            </a:r>
            <a:endParaRPr lang="en-US" sz="1400" dirty="0">
              <a:solidFill>
                <a:srgbClr val="00B050"/>
              </a:solidFill>
            </a:endParaRP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62A5EDC5-28BE-4301-ADA5-9C44627A434F}"/>
              </a:ext>
            </a:extLst>
          </p:cNvPr>
          <p:cNvCxnSpPr>
            <a:cxnSpLocks/>
          </p:cNvCxnSpPr>
          <p:nvPr/>
        </p:nvCxnSpPr>
        <p:spPr>
          <a:xfrm flipV="1">
            <a:off x="9780814" y="1612904"/>
            <a:ext cx="0" cy="1185065"/>
          </a:xfrm>
          <a:prstGeom prst="straightConnector1">
            <a:avLst/>
          </a:prstGeom>
          <a:ln w="28575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89598F1-B21F-46DC-8819-B67644ABE295}"/>
              </a:ext>
            </a:extLst>
          </p:cNvPr>
          <p:cNvSpPr txBox="1"/>
          <p:nvPr/>
        </p:nvSpPr>
        <p:spPr>
          <a:xfrm>
            <a:off x="8160550" y="2827500"/>
            <a:ext cx="3048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rgbClr val="FF0000"/>
                </a:solidFill>
              </a:rPr>
              <a:t>limandeBracketSideLength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FD30A6BE-E172-44A1-B71B-44AD69260389}"/>
              </a:ext>
            </a:extLst>
          </p:cNvPr>
          <p:cNvCxnSpPr>
            <a:cxnSpLocks/>
          </p:cNvCxnSpPr>
          <p:nvPr/>
        </p:nvCxnSpPr>
        <p:spPr>
          <a:xfrm flipH="1">
            <a:off x="8160550" y="2839586"/>
            <a:ext cx="3156453" cy="22807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9A856D0-8AD9-4FD3-8007-99FA81A85BD4}"/>
              </a:ext>
            </a:extLst>
          </p:cNvPr>
          <p:cNvSpPr txBox="1"/>
          <p:nvPr/>
        </p:nvSpPr>
        <p:spPr>
          <a:xfrm rot="19299582">
            <a:off x="7367631" y="1811852"/>
            <a:ext cx="2767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rgbClr val="FFC000"/>
                </a:solidFill>
              </a:rPr>
              <a:t>limandeHipotenuse</a:t>
            </a:r>
            <a:endParaRPr lang="en-US" dirty="0">
              <a:solidFill>
                <a:srgbClr val="FFC000"/>
              </a:solidFill>
            </a:endParaRP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BF84A92B-DF79-4B28-B4D4-EAD8714845BF}"/>
              </a:ext>
            </a:extLst>
          </p:cNvPr>
          <p:cNvCxnSpPr>
            <a:cxnSpLocks/>
          </p:cNvCxnSpPr>
          <p:nvPr/>
        </p:nvCxnSpPr>
        <p:spPr>
          <a:xfrm flipV="1">
            <a:off x="8160550" y="1538284"/>
            <a:ext cx="1533764" cy="1194029"/>
          </a:xfrm>
          <a:prstGeom prst="straightConnector1">
            <a:avLst/>
          </a:prstGeom>
          <a:ln w="28575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C9065DD9-3E9A-441A-8C99-4B327C705E0A}"/>
              </a:ext>
            </a:extLst>
          </p:cNvPr>
          <p:cNvSpPr txBox="1"/>
          <p:nvPr/>
        </p:nvSpPr>
        <p:spPr>
          <a:xfrm>
            <a:off x="-103415" y="2850989"/>
            <a:ext cx="138248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s-ES" dirty="0" err="1">
                <a:solidFill>
                  <a:srgbClr val="0070C0"/>
                </a:solidFill>
              </a:rPr>
              <a:t>limandeFoldDistance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9C3F277C-4506-4F9B-BFA3-B7D586FDA522}"/>
              </a:ext>
            </a:extLst>
          </p:cNvPr>
          <p:cNvCxnSpPr>
            <a:cxnSpLocks/>
          </p:cNvCxnSpPr>
          <p:nvPr/>
        </p:nvCxnSpPr>
        <p:spPr>
          <a:xfrm flipH="1">
            <a:off x="927601" y="3391431"/>
            <a:ext cx="280713" cy="314465"/>
          </a:xfrm>
          <a:prstGeom prst="straightConnector1">
            <a:avLst/>
          </a:prstGeom>
          <a:ln w="38100">
            <a:solidFill>
              <a:srgbClr val="0070C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126C63BC-2DB8-4968-AEEC-0D257C568E9F}"/>
              </a:ext>
            </a:extLst>
          </p:cNvPr>
          <p:cNvSpPr txBox="1"/>
          <p:nvPr/>
        </p:nvSpPr>
        <p:spPr>
          <a:xfrm rot="19023005">
            <a:off x="3815428" y="2765628"/>
            <a:ext cx="237404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s-ES" dirty="0" err="1">
                <a:solidFill>
                  <a:srgbClr val="0070C0"/>
                </a:solidFill>
              </a:rPr>
              <a:t>limandeStraightHeight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9D3BAE42-2766-440D-96A7-DB8C7D68F25D}"/>
              </a:ext>
            </a:extLst>
          </p:cNvPr>
          <p:cNvCxnSpPr>
            <a:cxnSpLocks/>
          </p:cNvCxnSpPr>
          <p:nvPr/>
        </p:nvCxnSpPr>
        <p:spPr>
          <a:xfrm flipH="1">
            <a:off x="4304907" y="2862393"/>
            <a:ext cx="582779" cy="552953"/>
          </a:xfrm>
          <a:prstGeom prst="straightConnector1">
            <a:avLst/>
          </a:prstGeom>
          <a:ln w="38100">
            <a:solidFill>
              <a:srgbClr val="0070C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90327196-947A-4803-B9AE-16BBD0F95034}"/>
              </a:ext>
            </a:extLst>
          </p:cNvPr>
          <p:cNvSpPr txBox="1"/>
          <p:nvPr/>
        </p:nvSpPr>
        <p:spPr>
          <a:xfrm rot="20097373">
            <a:off x="2663890" y="3771624"/>
            <a:ext cx="1675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rgbClr val="FFC000"/>
                </a:solidFill>
              </a:rPr>
              <a:t>limandeWidth</a:t>
            </a:r>
            <a:endParaRPr lang="en-US" dirty="0">
              <a:solidFill>
                <a:srgbClr val="FFC000"/>
              </a:solidFill>
            </a:endParaRP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762D278E-0CBB-46A9-BE3B-D905C4E06845}"/>
              </a:ext>
            </a:extLst>
          </p:cNvPr>
          <p:cNvCxnSpPr>
            <a:cxnSpLocks/>
          </p:cNvCxnSpPr>
          <p:nvPr/>
        </p:nvCxnSpPr>
        <p:spPr>
          <a:xfrm flipV="1">
            <a:off x="3286550" y="3415346"/>
            <a:ext cx="931098" cy="437979"/>
          </a:xfrm>
          <a:prstGeom prst="straightConnector1">
            <a:avLst/>
          </a:prstGeom>
          <a:ln w="28575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037F1CF7-1098-4262-B657-1AD64DF6364A}"/>
              </a:ext>
            </a:extLst>
          </p:cNvPr>
          <p:cNvCxnSpPr>
            <a:cxnSpLocks/>
          </p:cNvCxnSpPr>
          <p:nvPr/>
        </p:nvCxnSpPr>
        <p:spPr>
          <a:xfrm>
            <a:off x="3714021" y="2509157"/>
            <a:ext cx="530056" cy="800100"/>
          </a:xfrm>
          <a:prstGeom prst="straightConnector1">
            <a:avLst/>
          </a:prstGeom>
          <a:ln w="28575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64AD87E3-45C9-4E9B-AA48-71A68CC8E185}"/>
              </a:ext>
            </a:extLst>
          </p:cNvPr>
          <p:cNvSpPr txBox="1"/>
          <p:nvPr/>
        </p:nvSpPr>
        <p:spPr>
          <a:xfrm rot="19562485">
            <a:off x="3671185" y="1878617"/>
            <a:ext cx="2762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solidFill>
                  <a:srgbClr val="FFC000"/>
                </a:solidFill>
              </a:rPr>
              <a:t>limandeTrapezoidLength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FCAA4160-7717-41DC-8ECF-13211F8BB17B}"/>
              </a:ext>
            </a:extLst>
          </p:cNvPr>
          <p:cNvSpPr txBox="1"/>
          <p:nvPr/>
        </p:nvSpPr>
        <p:spPr>
          <a:xfrm>
            <a:off x="7943329" y="3094467"/>
            <a:ext cx="219326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s-ES" sz="1400" dirty="0" err="1">
                <a:solidFill>
                  <a:srgbClr val="00B050"/>
                </a:solidFill>
              </a:rPr>
              <a:t>limandeBracketSideWidth</a:t>
            </a:r>
            <a:endParaRPr lang="en-US" sz="1400" dirty="0">
              <a:solidFill>
                <a:srgbClr val="00B050"/>
              </a:solidFill>
            </a:endParaRPr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14C8ECB3-ADCF-43B0-A7EB-5CD77F8F32F4}"/>
              </a:ext>
            </a:extLst>
          </p:cNvPr>
          <p:cNvCxnSpPr>
            <a:cxnSpLocks/>
          </p:cNvCxnSpPr>
          <p:nvPr/>
        </p:nvCxnSpPr>
        <p:spPr>
          <a:xfrm flipV="1">
            <a:off x="8110948" y="2832816"/>
            <a:ext cx="0" cy="596184"/>
          </a:xfrm>
          <a:prstGeom prst="straightConnector1">
            <a:avLst/>
          </a:prstGeom>
          <a:ln w="28575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C50CDCBE-C0F4-47E7-8E7C-70FE18FF6423}"/>
              </a:ext>
            </a:extLst>
          </p:cNvPr>
          <p:cNvSpPr txBox="1"/>
          <p:nvPr/>
        </p:nvSpPr>
        <p:spPr>
          <a:xfrm>
            <a:off x="2862940" y="296592"/>
            <a:ext cx="6319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* </a:t>
            </a:r>
            <a:r>
              <a:rPr lang="es-ES" dirty="0" err="1"/>
              <a:t>Limande</a:t>
            </a:r>
            <a:r>
              <a:rPr lang="es-ES" dirty="0"/>
              <a:t> B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same</a:t>
            </a:r>
            <a:r>
              <a:rPr lang="es-ES" dirty="0"/>
              <a:t> </a:t>
            </a:r>
            <a:r>
              <a:rPr lang="es-ES" dirty="0" err="1"/>
              <a:t>but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top </a:t>
            </a:r>
            <a:r>
              <a:rPr lang="es-ES" dirty="0" err="1"/>
              <a:t>layer</a:t>
            </a:r>
            <a:r>
              <a:rPr lang="es-ES" dirty="0"/>
              <a:t> </a:t>
            </a:r>
            <a:r>
              <a:rPr lang="es-ES" dirty="0" err="1"/>
              <a:t>above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right</a:t>
            </a:r>
            <a:r>
              <a:rPr lang="es-ES" dirty="0"/>
              <a:t> </a:t>
            </a:r>
            <a:r>
              <a:rPr lang="es-ES" dirty="0" err="1"/>
              <a:t>hipotenuse</a:t>
            </a:r>
            <a:r>
              <a:rPr lang="es-ES" dirty="0"/>
              <a:t> </a:t>
            </a:r>
            <a:r>
              <a:rPr lang="es-ES" dirty="0" err="1"/>
              <a:t>instead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left</a:t>
            </a:r>
            <a:r>
              <a:rPr lang="es-ES" dirty="0"/>
              <a:t> </a:t>
            </a:r>
            <a:r>
              <a:rPr lang="es-ES" dirty="0" err="1"/>
              <a:t>one</a:t>
            </a:r>
            <a:r>
              <a:rPr lang="es-ES" dirty="0"/>
              <a:t> (</a:t>
            </a:r>
            <a:r>
              <a:rPr lang="es-ES" dirty="0" err="1"/>
              <a:t>mirror</a:t>
            </a:r>
            <a:r>
              <a:rPr lang="es-ES" dirty="0"/>
              <a:t> </a:t>
            </a:r>
            <a:r>
              <a:rPr lang="es-ES" dirty="0" err="1"/>
              <a:t>respect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YZ plane)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223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29CC52-3E66-40B1-989A-1B829D491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s-ES" dirty="0" err="1"/>
              <a:t>Limande</a:t>
            </a:r>
            <a:r>
              <a:rPr lang="es-ES" dirty="0"/>
              <a:t> – </a:t>
            </a:r>
            <a:r>
              <a:rPr lang="es-ES" dirty="0" err="1"/>
              <a:t>thickness</a:t>
            </a:r>
            <a:endParaRPr lang="en-U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5A1313C-E498-4E60-9DB3-74796ABA2EC4}"/>
              </a:ext>
            </a:extLst>
          </p:cNvPr>
          <p:cNvSpPr txBox="1"/>
          <p:nvPr/>
        </p:nvSpPr>
        <p:spPr>
          <a:xfrm>
            <a:off x="85911" y="1436023"/>
            <a:ext cx="47072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 err="1"/>
              <a:t>The</a:t>
            </a:r>
            <a:r>
              <a:rPr lang="es-ES" sz="1600" dirty="0"/>
              <a:t> flat cables (</a:t>
            </a:r>
            <a:r>
              <a:rPr lang="es-ES" sz="1600" dirty="0" err="1"/>
              <a:t>limandes</a:t>
            </a:r>
            <a:r>
              <a:rPr lang="es-ES" sz="1600" dirty="0"/>
              <a:t>) </a:t>
            </a:r>
            <a:r>
              <a:rPr lang="es-ES" sz="1600" dirty="0" err="1"/>
              <a:t>have</a:t>
            </a:r>
            <a:r>
              <a:rPr lang="es-ES" sz="1600" dirty="0"/>
              <a:t> 4 </a:t>
            </a:r>
            <a:r>
              <a:rPr lang="es-ES" sz="1600" dirty="0" err="1"/>
              <a:t>copper</a:t>
            </a:r>
            <a:r>
              <a:rPr lang="es-ES" sz="1600" dirty="0"/>
              <a:t> </a:t>
            </a:r>
            <a:r>
              <a:rPr lang="es-ES" sz="1600" dirty="0" err="1"/>
              <a:t>layers</a:t>
            </a:r>
            <a:r>
              <a:rPr lang="es-ES" sz="1600" dirty="0"/>
              <a:t> (</a:t>
            </a:r>
            <a:r>
              <a:rPr lang="es-ES" sz="1600" dirty="0" err="1"/>
              <a:t>mesh</a:t>
            </a:r>
            <a:r>
              <a:rPr lang="es-ES" sz="1600" dirty="0"/>
              <a:t>, X </a:t>
            </a:r>
            <a:r>
              <a:rPr lang="es-ES" sz="1600" dirty="0" err="1"/>
              <a:t>strips</a:t>
            </a:r>
            <a:r>
              <a:rPr lang="es-ES" sz="1600" dirty="0"/>
              <a:t>, Y </a:t>
            </a:r>
            <a:r>
              <a:rPr lang="es-ES" sz="1600" dirty="0" err="1"/>
              <a:t>strips</a:t>
            </a:r>
            <a:r>
              <a:rPr lang="es-ES" sz="1600" dirty="0"/>
              <a:t>, </a:t>
            </a:r>
            <a:r>
              <a:rPr lang="es-ES" sz="1600" dirty="0" err="1"/>
              <a:t>grounding</a:t>
            </a:r>
            <a:r>
              <a:rPr lang="es-ES" sz="1600" dirty="0"/>
              <a:t>) </a:t>
            </a:r>
            <a:r>
              <a:rPr lang="es-ES" sz="1600" dirty="0" err="1"/>
              <a:t>of</a:t>
            </a:r>
            <a:r>
              <a:rPr lang="es-ES" sz="1600" dirty="0"/>
              <a:t> ¿17um </a:t>
            </a:r>
            <a:r>
              <a:rPr lang="es-ES" sz="1600" dirty="0" err="1"/>
              <a:t>thickness</a:t>
            </a:r>
            <a:r>
              <a:rPr lang="es-ES" sz="1600" dirty="0"/>
              <a:t>?(I asume </a:t>
            </a:r>
            <a:r>
              <a:rPr lang="es-ES" sz="1600" dirty="0" err="1"/>
              <a:t>its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same</a:t>
            </a:r>
            <a:r>
              <a:rPr lang="es-ES" sz="1600" dirty="0"/>
              <a:t> as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mM</a:t>
            </a:r>
            <a:r>
              <a:rPr lang="es-ES" sz="1600" dirty="0"/>
              <a:t> </a:t>
            </a:r>
            <a:r>
              <a:rPr lang="es-ES" sz="1600" dirty="0" err="1"/>
              <a:t>layers</a:t>
            </a:r>
            <a:r>
              <a:rPr lang="es-ES" sz="1600" dirty="0"/>
              <a:t>) </a:t>
            </a:r>
            <a:r>
              <a:rPr lang="es-ES" sz="1600" dirty="0" err="1"/>
              <a:t>separated</a:t>
            </a:r>
            <a:r>
              <a:rPr lang="es-ES" sz="1600" dirty="0"/>
              <a:t> </a:t>
            </a:r>
            <a:r>
              <a:rPr lang="es-ES" sz="1600" dirty="0" err="1"/>
              <a:t>by</a:t>
            </a:r>
            <a:r>
              <a:rPr lang="es-ES" sz="1600" dirty="0"/>
              <a:t> 2 </a:t>
            </a:r>
            <a:r>
              <a:rPr lang="es-ES" sz="1600" dirty="0" err="1"/>
              <a:t>kapton</a:t>
            </a:r>
            <a:r>
              <a:rPr lang="es-ES" sz="1600" dirty="0"/>
              <a:t> </a:t>
            </a:r>
            <a:r>
              <a:rPr lang="es-ES" sz="1600" dirty="0" err="1"/>
              <a:t>layers</a:t>
            </a:r>
            <a:r>
              <a:rPr lang="es-ES" sz="1600" dirty="0"/>
              <a:t> </a:t>
            </a:r>
            <a:r>
              <a:rPr lang="es-ES" sz="1600" dirty="0" err="1"/>
              <a:t>of</a:t>
            </a:r>
            <a:r>
              <a:rPr lang="es-ES" sz="1600" dirty="0"/>
              <a:t> 50um (</a:t>
            </a:r>
            <a:r>
              <a:rPr lang="es-ES" sz="1600" dirty="0" err="1"/>
              <a:t>amplification</a:t>
            </a:r>
            <a:r>
              <a:rPr lang="es-ES" sz="1600" dirty="0"/>
              <a:t> gap) and </a:t>
            </a:r>
            <a:r>
              <a:rPr lang="es-ES" sz="1600" dirty="0" err="1"/>
              <a:t>another</a:t>
            </a:r>
            <a:r>
              <a:rPr lang="es-ES" sz="1600" dirty="0"/>
              <a:t> </a:t>
            </a:r>
            <a:r>
              <a:rPr lang="es-ES" sz="1600" dirty="0" err="1"/>
              <a:t>one</a:t>
            </a:r>
            <a:r>
              <a:rPr lang="es-ES" sz="1600" dirty="0"/>
              <a:t> </a:t>
            </a:r>
            <a:r>
              <a:rPr lang="es-ES" sz="1600" dirty="0" err="1"/>
              <a:t>of</a:t>
            </a:r>
            <a:r>
              <a:rPr lang="es-ES" sz="1600" dirty="0"/>
              <a:t> 350um </a:t>
            </a:r>
            <a:r>
              <a:rPr lang="es-ES" sz="1600" dirty="0" err="1"/>
              <a:t>thickness</a:t>
            </a:r>
            <a:r>
              <a:rPr lang="es-ES" sz="1600" dirty="0"/>
              <a:t>. </a:t>
            </a:r>
            <a:r>
              <a:rPr lang="es-ES" sz="1600" i="1" dirty="0" err="1"/>
              <a:t>See</a:t>
            </a:r>
            <a:r>
              <a:rPr lang="es-ES" sz="1600" i="1" dirty="0"/>
              <a:t> </a:t>
            </a:r>
            <a:r>
              <a:rPr lang="es-ES" sz="1600" i="1" dirty="0" err="1"/>
              <a:t>Hector</a:t>
            </a:r>
            <a:r>
              <a:rPr lang="es-ES" sz="1600" i="1" dirty="0"/>
              <a:t> </a:t>
            </a:r>
            <a:r>
              <a:rPr lang="es-ES" sz="1600" i="1" dirty="0" err="1"/>
              <a:t>Mirallas</a:t>
            </a:r>
            <a:r>
              <a:rPr lang="es-ES" sz="1600" i="1" dirty="0"/>
              <a:t> </a:t>
            </a:r>
            <a:r>
              <a:rPr lang="es-ES" sz="1600" i="1" dirty="0" err="1"/>
              <a:t>thesis</a:t>
            </a:r>
            <a:r>
              <a:rPr lang="es-ES" sz="1600" i="1" dirty="0"/>
              <a:t>.</a:t>
            </a:r>
          </a:p>
          <a:p>
            <a:endParaRPr lang="es-ES" sz="1600" dirty="0"/>
          </a:p>
          <a:p>
            <a:r>
              <a:rPr lang="es-ES" sz="1600" dirty="0" err="1"/>
              <a:t>For</a:t>
            </a:r>
            <a:r>
              <a:rPr lang="es-ES" sz="1600" dirty="0"/>
              <a:t> </a:t>
            </a:r>
            <a:r>
              <a:rPr lang="es-ES" sz="1600" dirty="0" err="1"/>
              <a:t>simplicity</a:t>
            </a:r>
            <a:r>
              <a:rPr lang="es-ES" sz="1600" dirty="0"/>
              <a:t>, </a:t>
            </a:r>
            <a:r>
              <a:rPr lang="es-ES" sz="1600" dirty="0" err="1"/>
              <a:t>we</a:t>
            </a:r>
            <a:r>
              <a:rPr lang="es-ES" sz="1600" dirty="0"/>
              <a:t> </a:t>
            </a:r>
            <a:r>
              <a:rPr lang="es-ES" sz="1600" dirty="0" err="1"/>
              <a:t>model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limandes</a:t>
            </a:r>
            <a:r>
              <a:rPr lang="es-ES" sz="1600" dirty="0"/>
              <a:t> as a </a:t>
            </a:r>
            <a:r>
              <a:rPr lang="es-ES" sz="1600" dirty="0" err="1"/>
              <a:t>sandwich</a:t>
            </a:r>
            <a:r>
              <a:rPr lang="es-ES" sz="1600" dirty="0"/>
              <a:t> </a:t>
            </a:r>
            <a:r>
              <a:rPr lang="es-ES" sz="1600" dirty="0" err="1"/>
              <a:t>of</a:t>
            </a:r>
            <a:r>
              <a:rPr lang="es-ES" sz="1600" dirty="0"/>
              <a:t> </a:t>
            </a:r>
            <a:r>
              <a:rPr lang="es-ES" sz="1600" dirty="0" err="1"/>
              <a:t>copper-kapton-copper</a:t>
            </a:r>
            <a:r>
              <a:rPr lang="es-ES" sz="1600" dirty="0"/>
              <a:t>, </a:t>
            </a:r>
            <a:r>
              <a:rPr lang="es-ES" sz="1600" dirty="0" err="1"/>
              <a:t>omiting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internal</a:t>
            </a:r>
            <a:r>
              <a:rPr lang="es-ES" sz="1600" dirty="0"/>
              <a:t> 2 </a:t>
            </a:r>
            <a:r>
              <a:rPr lang="es-ES" sz="1600" dirty="0" err="1"/>
              <a:t>layers</a:t>
            </a:r>
            <a:r>
              <a:rPr lang="es-ES" sz="1600" dirty="0"/>
              <a:t> </a:t>
            </a:r>
            <a:r>
              <a:rPr lang="es-ES" sz="1600" dirty="0" err="1"/>
              <a:t>of</a:t>
            </a:r>
            <a:r>
              <a:rPr lang="es-ES" sz="1600" dirty="0"/>
              <a:t> </a:t>
            </a:r>
            <a:r>
              <a:rPr lang="es-ES" sz="1600" dirty="0" err="1"/>
              <a:t>copper</a:t>
            </a:r>
            <a:r>
              <a:rPr lang="es-ES" sz="1600" dirty="0"/>
              <a:t>. </a:t>
            </a:r>
            <a:endParaRPr lang="en-US" sz="16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F0DA5A2-16C1-4396-90EC-337212CA8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986" y="0"/>
            <a:ext cx="5739493" cy="644434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A594BE6A-4F9E-4A55-8F69-14045ADC6D76}"/>
              </a:ext>
            </a:extLst>
          </p:cNvPr>
          <p:cNvSpPr txBox="1"/>
          <p:nvPr/>
        </p:nvSpPr>
        <p:spPr>
          <a:xfrm>
            <a:off x="7618072" y="6534591"/>
            <a:ext cx="31278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i="1" dirty="0"/>
              <a:t>*</a:t>
            </a:r>
            <a:r>
              <a:rPr lang="es-ES" sz="1100" i="1" dirty="0" err="1"/>
              <a:t>thickness</a:t>
            </a:r>
            <a:r>
              <a:rPr lang="es-ES" sz="1100" i="1" dirty="0"/>
              <a:t> </a:t>
            </a:r>
            <a:r>
              <a:rPr lang="es-ES" sz="1100" i="1" dirty="0" err="1"/>
              <a:t>is</a:t>
            </a:r>
            <a:r>
              <a:rPr lang="es-ES" sz="1100" i="1" dirty="0"/>
              <a:t> </a:t>
            </a:r>
            <a:r>
              <a:rPr lang="es-ES" sz="1100" i="1" dirty="0" err="1"/>
              <a:t>increased</a:t>
            </a:r>
            <a:r>
              <a:rPr lang="es-ES" sz="1100" i="1" dirty="0"/>
              <a:t> </a:t>
            </a:r>
            <a:r>
              <a:rPr lang="es-ES" sz="1100" i="1" dirty="0" err="1"/>
              <a:t>for</a:t>
            </a:r>
            <a:r>
              <a:rPr lang="es-ES" sz="1100" i="1" dirty="0"/>
              <a:t> </a:t>
            </a:r>
            <a:r>
              <a:rPr lang="es-ES" sz="1100" i="1" dirty="0" err="1"/>
              <a:t>visualization</a:t>
            </a:r>
            <a:r>
              <a:rPr lang="es-ES" sz="1100" i="1" dirty="0"/>
              <a:t> </a:t>
            </a:r>
            <a:r>
              <a:rPr lang="es-ES" sz="1100" i="1" dirty="0" err="1"/>
              <a:t>purposes</a:t>
            </a:r>
            <a:endParaRPr lang="en-US" sz="1100" i="1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4E9DE7B-4957-48E0-B70D-A4D9BEDC4801}"/>
              </a:ext>
            </a:extLst>
          </p:cNvPr>
          <p:cNvSpPr txBox="1"/>
          <p:nvPr/>
        </p:nvSpPr>
        <p:spPr>
          <a:xfrm>
            <a:off x="6855459" y="4677496"/>
            <a:ext cx="194595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rgbClr val="0070C0"/>
                </a:solidFill>
              </a:rPr>
              <a:t>limandeThickness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EAF1892A-A7A4-4242-83B9-E79EDF2FDD3B}"/>
              </a:ext>
            </a:extLst>
          </p:cNvPr>
          <p:cNvCxnSpPr>
            <a:cxnSpLocks/>
          </p:cNvCxnSpPr>
          <p:nvPr/>
        </p:nvCxnSpPr>
        <p:spPr>
          <a:xfrm flipH="1">
            <a:off x="8633733" y="4343400"/>
            <a:ext cx="302705" cy="362207"/>
          </a:xfrm>
          <a:prstGeom prst="straightConnector1">
            <a:avLst/>
          </a:prstGeom>
          <a:ln w="38100">
            <a:solidFill>
              <a:srgbClr val="0070C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E8AC3C2-A70E-47BE-AF2B-DA39287B3DB0}"/>
              </a:ext>
            </a:extLst>
          </p:cNvPr>
          <p:cNvSpPr txBox="1"/>
          <p:nvPr/>
        </p:nvSpPr>
        <p:spPr>
          <a:xfrm>
            <a:off x="9447680" y="4524503"/>
            <a:ext cx="253406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s-ES" dirty="0" err="1">
                <a:solidFill>
                  <a:srgbClr val="0070C0"/>
                </a:solidFill>
              </a:rPr>
              <a:t>limandeCopperThickness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59FFF60E-0B95-4975-8F4D-C4FC43EB356E}"/>
              </a:ext>
            </a:extLst>
          </p:cNvPr>
          <p:cNvCxnSpPr>
            <a:cxnSpLocks/>
          </p:cNvCxnSpPr>
          <p:nvPr/>
        </p:nvCxnSpPr>
        <p:spPr>
          <a:xfrm flipH="1">
            <a:off x="9331778" y="4646778"/>
            <a:ext cx="163286" cy="215384"/>
          </a:xfrm>
          <a:prstGeom prst="straightConnector1">
            <a:avLst/>
          </a:prstGeom>
          <a:ln w="38100">
            <a:solidFill>
              <a:srgbClr val="0070C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FF2AE03-CCB3-4B9A-90CD-654EDA57C6B7}"/>
              </a:ext>
            </a:extLst>
          </p:cNvPr>
          <p:cNvSpPr txBox="1"/>
          <p:nvPr/>
        </p:nvSpPr>
        <p:spPr>
          <a:xfrm>
            <a:off x="3875181" y="3755853"/>
            <a:ext cx="377761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s-ES" dirty="0" err="1">
                <a:solidFill>
                  <a:srgbClr val="FF00FF"/>
                </a:solidFill>
              </a:rPr>
              <a:t>thickness_below_in_mm</a:t>
            </a:r>
            <a:endParaRPr lang="en-US" dirty="0">
              <a:solidFill>
                <a:srgbClr val="FF00FF"/>
              </a:solidFill>
            </a:endParaRP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FEC7EB8D-2C4E-49A3-88F6-2702A65426E1}"/>
              </a:ext>
            </a:extLst>
          </p:cNvPr>
          <p:cNvCxnSpPr>
            <a:cxnSpLocks/>
          </p:cNvCxnSpPr>
          <p:nvPr/>
        </p:nvCxnSpPr>
        <p:spPr>
          <a:xfrm flipH="1">
            <a:off x="7827075" y="4007833"/>
            <a:ext cx="165761" cy="234704"/>
          </a:xfrm>
          <a:prstGeom prst="straightConnector1">
            <a:avLst/>
          </a:prstGeom>
          <a:ln w="38100">
            <a:solidFill>
              <a:srgbClr val="FF00FF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861971D6-A7C5-44FC-A2C1-BB8636EFC678}"/>
              </a:ext>
            </a:extLst>
          </p:cNvPr>
          <p:cNvCxnSpPr>
            <a:cxnSpLocks/>
          </p:cNvCxnSpPr>
          <p:nvPr/>
        </p:nvCxnSpPr>
        <p:spPr>
          <a:xfrm flipH="1">
            <a:off x="9103008" y="4931229"/>
            <a:ext cx="155292" cy="246877"/>
          </a:xfrm>
          <a:prstGeom prst="straightConnector1">
            <a:avLst/>
          </a:prstGeom>
          <a:ln w="38100">
            <a:solidFill>
              <a:srgbClr val="0070C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0442936C-66BC-4376-BE36-A0115E6B97B9}"/>
              </a:ext>
            </a:extLst>
          </p:cNvPr>
          <p:cNvCxnSpPr>
            <a:cxnSpLocks/>
          </p:cNvCxnSpPr>
          <p:nvPr/>
        </p:nvCxnSpPr>
        <p:spPr>
          <a:xfrm flipH="1" flipV="1">
            <a:off x="7080497" y="2122097"/>
            <a:ext cx="229394" cy="167752"/>
          </a:xfrm>
          <a:prstGeom prst="straightConnector1">
            <a:avLst/>
          </a:prstGeom>
          <a:ln w="38100">
            <a:solidFill>
              <a:srgbClr val="FF00FF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9D30973B-D6EA-491C-A8E9-5A0EF7D9D27D}"/>
              </a:ext>
            </a:extLst>
          </p:cNvPr>
          <p:cNvCxnSpPr>
            <a:cxnSpLocks/>
          </p:cNvCxnSpPr>
          <p:nvPr/>
        </p:nvCxnSpPr>
        <p:spPr>
          <a:xfrm flipH="1" flipV="1">
            <a:off x="9143603" y="2038221"/>
            <a:ext cx="229394" cy="167752"/>
          </a:xfrm>
          <a:prstGeom prst="straightConnector1">
            <a:avLst/>
          </a:prstGeom>
          <a:ln w="38100">
            <a:solidFill>
              <a:srgbClr val="FF00FF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13DCC2D1-6090-43F8-84CF-49850BE17121}"/>
              </a:ext>
            </a:extLst>
          </p:cNvPr>
          <p:cNvCxnSpPr>
            <a:cxnSpLocks/>
          </p:cNvCxnSpPr>
          <p:nvPr/>
        </p:nvCxnSpPr>
        <p:spPr>
          <a:xfrm flipH="1">
            <a:off x="8368392" y="2531578"/>
            <a:ext cx="175532" cy="229817"/>
          </a:xfrm>
          <a:prstGeom prst="straightConnector1">
            <a:avLst/>
          </a:prstGeom>
          <a:ln w="38100">
            <a:solidFill>
              <a:srgbClr val="FF00FF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1549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51A05A-87AE-4C96-AEF2-2E4365A9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486" y="-31569"/>
            <a:ext cx="10515600" cy="1325563"/>
          </a:xfrm>
        </p:spPr>
        <p:txBody>
          <a:bodyPr/>
          <a:lstStyle/>
          <a:p>
            <a:r>
              <a:rPr lang="es-ES" dirty="0" err="1"/>
              <a:t>Closing</a:t>
            </a:r>
            <a:r>
              <a:rPr lang="es-ES" dirty="0"/>
              <a:t> </a:t>
            </a:r>
            <a:r>
              <a:rPr lang="es-ES" dirty="0" err="1"/>
              <a:t>Bracket-limande-mMBoard-mMBase</a:t>
            </a: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F2CB407-ED10-4B06-AB69-5E261511D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804" y="1174371"/>
            <a:ext cx="7057071" cy="5483244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6F50AF4-2C3D-4204-9EF9-33D0C68F4989}"/>
              </a:ext>
            </a:extLst>
          </p:cNvPr>
          <p:cNvSpPr txBox="1"/>
          <p:nvPr/>
        </p:nvSpPr>
        <p:spPr>
          <a:xfrm>
            <a:off x="484068" y="1388825"/>
            <a:ext cx="133350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 err="1"/>
              <a:t>mMBase</a:t>
            </a:r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6B9F02D-77B8-4818-B7C4-1C47D74C078C}"/>
              </a:ext>
            </a:extLst>
          </p:cNvPr>
          <p:cNvSpPr txBox="1"/>
          <p:nvPr/>
        </p:nvSpPr>
        <p:spPr>
          <a:xfrm>
            <a:off x="484067" y="2100314"/>
            <a:ext cx="1910789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 err="1"/>
              <a:t>mMBase</a:t>
            </a:r>
            <a:r>
              <a:rPr lang="es-ES" dirty="0"/>
              <a:t> (</a:t>
            </a:r>
            <a:r>
              <a:rPr lang="es-ES" dirty="0" err="1"/>
              <a:t>mMBaseBracket</a:t>
            </a:r>
            <a:r>
              <a:rPr lang="es-ES" dirty="0"/>
              <a:t>)</a:t>
            </a:r>
            <a:endParaRPr lang="en-US" dirty="0"/>
          </a:p>
        </p:txBody>
      </p:sp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1C854724-26B3-4009-97AB-27AC5411A238}"/>
              </a:ext>
            </a:extLst>
          </p:cNvPr>
          <p:cNvSpPr/>
          <p:nvPr/>
        </p:nvSpPr>
        <p:spPr>
          <a:xfrm rot="1512197">
            <a:off x="2264574" y="2674540"/>
            <a:ext cx="2033442" cy="331777"/>
          </a:xfrm>
          <a:prstGeom prst="rightArrow">
            <a:avLst>
              <a:gd name="adj1" fmla="val 22546"/>
              <a:gd name="adj2" fmla="val 8112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1952807B-84EB-4F4E-B6E4-810375218CB4}"/>
              </a:ext>
            </a:extLst>
          </p:cNvPr>
          <p:cNvSpPr/>
          <p:nvPr/>
        </p:nvSpPr>
        <p:spPr>
          <a:xfrm rot="1512197">
            <a:off x="1713612" y="1894500"/>
            <a:ext cx="2308792" cy="331777"/>
          </a:xfrm>
          <a:prstGeom prst="rightArrow">
            <a:avLst>
              <a:gd name="adj1" fmla="val 22546"/>
              <a:gd name="adj2" fmla="val 8112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FF646F7-944E-49E1-824B-C00A2A409811}"/>
              </a:ext>
            </a:extLst>
          </p:cNvPr>
          <p:cNvSpPr txBox="1"/>
          <p:nvPr/>
        </p:nvSpPr>
        <p:spPr>
          <a:xfrm>
            <a:off x="179614" y="3418430"/>
            <a:ext cx="228055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 err="1"/>
              <a:t>mMTeflonSpacerPad</a:t>
            </a:r>
            <a:endParaRPr lang="en-US" dirty="0"/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57DE7ACA-9EF4-4798-B76D-1DFB988321FF}"/>
              </a:ext>
            </a:extLst>
          </p:cNvPr>
          <p:cNvSpPr/>
          <p:nvPr/>
        </p:nvSpPr>
        <p:spPr>
          <a:xfrm rot="671632">
            <a:off x="2427235" y="3694694"/>
            <a:ext cx="2546421" cy="331777"/>
          </a:xfrm>
          <a:prstGeom prst="rightArrow">
            <a:avLst>
              <a:gd name="adj1" fmla="val 22546"/>
              <a:gd name="adj2" fmla="val 8112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79D99FB-D792-4559-85A4-8BF7BBB7A8F1}"/>
              </a:ext>
            </a:extLst>
          </p:cNvPr>
          <p:cNvSpPr txBox="1"/>
          <p:nvPr/>
        </p:nvSpPr>
        <p:spPr>
          <a:xfrm>
            <a:off x="145897" y="5526208"/>
            <a:ext cx="244561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 err="1"/>
              <a:t>mMBaseClosingBracket</a:t>
            </a:r>
            <a:endParaRPr lang="en-US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F1D68E5F-C7E1-4B69-8DE0-8A21D7EDEB0B}"/>
              </a:ext>
            </a:extLst>
          </p:cNvPr>
          <p:cNvSpPr/>
          <p:nvPr/>
        </p:nvSpPr>
        <p:spPr>
          <a:xfrm rot="20724259">
            <a:off x="2481254" y="5374637"/>
            <a:ext cx="1874192" cy="331777"/>
          </a:xfrm>
          <a:prstGeom prst="rightArrow">
            <a:avLst>
              <a:gd name="adj1" fmla="val 22546"/>
              <a:gd name="adj2" fmla="val 8112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8C96DA6-B24A-4ABB-B5E8-687B050982DB}"/>
              </a:ext>
            </a:extLst>
          </p:cNvPr>
          <p:cNvSpPr txBox="1"/>
          <p:nvPr/>
        </p:nvSpPr>
        <p:spPr>
          <a:xfrm>
            <a:off x="223351" y="4818506"/>
            <a:ext cx="165615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 err="1"/>
              <a:t>limandeA</a:t>
            </a:r>
            <a:r>
              <a:rPr lang="es-ES" dirty="0"/>
              <a:t>/B</a:t>
            </a:r>
            <a:endParaRPr lang="en-US" dirty="0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1AA53FFF-307B-490C-86F3-C216CFA477F2}"/>
              </a:ext>
            </a:extLst>
          </p:cNvPr>
          <p:cNvSpPr/>
          <p:nvPr/>
        </p:nvSpPr>
        <p:spPr>
          <a:xfrm rot="20674446">
            <a:off x="1842149" y="4763765"/>
            <a:ext cx="1718027" cy="199169"/>
          </a:xfrm>
          <a:prstGeom prst="rightArrow">
            <a:avLst>
              <a:gd name="adj1" fmla="val 22546"/>
              <a:gd name="adj2" fmla="val 1180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A7D4B6E-DD37-4C50-BA26-45533FA49EFC}"/>
              </a:ext>
            </a:extLst>
          </p:cNvPr>
          <p:cNvSpPr txBox="1"/>
          <p:nvPr/>
        </p:nvSpPr>
        <p:spPr>
          <a:xfrm>
            <a:off x="223350" y="4095323"/>
            <a:ext cx="165615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 err="1"/>
              <a:t>mMBoard</a:t>
            </a:r>
            <a:endParaRPr lang="en-US" dirty="0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15ECF48A-2BE3-4A5C-B01E-23AACDF92A6E}"/>
              </a:ext>
            </a:extLst>
          </p:cNvPr>
          <p:cNvSpPr/>
          <p:nvPr/>
        </p:nvSpPr>
        <p:spPr>
          <a:xfrm rot="462462">
            <a:off x="1881497" y="4338739"/>
            <a:ext cx="2060042" cy="168551"/>
          </a:xfrm>
          <a:prstGeom prst="rightArrow">
            <a:avLst>
              <a:gd name="adj1" fmla="val 46944"/>
              <a:gd name="adj2" fmla="val 1410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43C7FDA-5B6A-4A03-99D3-FA94AB9BF3D2}"/>
              </a:ext>
            </a:extLst>
          </p:cNvPr>
          <p:cNvSpPr txBox="1"/>
          <p:nvPr/>
        </p:nvSpPr>
        <p:spPr>
          <a:xfrm>
            <a:off x="5770134" y="1197581"/>
            <a:ext cx="228055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 err="1"/>
              <a:t>mMBaseTeflonRoller</a:t>
            </a:r>
            <a:endParaRPr lang="en-US" dirty="0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5758F160-6017-4431-8AD1-24877E3DE2A3}"/>
              </a:ext>
            </a:extLst>
          </p:cNvPr>
          <p:cNvSpPr/>
          <p:nvPr/>
        </p:nvSpPr>
        <p:spPr>
          <a:xfrm rot="3864244">
            <a:off x="7508917" y="2146051"/>
            <a:ext cx="1937225" cy="331777"/>
          </a:xfrm>
          <a:prstGeom prst="rightArrow">
            <a:avLst>
              <a:gd name="adj1" fmla="val 22546"/>
              <a:gd name="adj2" fmla="val 8112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lecha: hacia abajo 21">
            <a:extLst>
              <a:ext uri="{FF2B5EF4-FFF2-40B4-BE49-F238E27FC236}">
                <a16:creationId xmlns:a16="http://schemas.microsoft.com/office/drawing/2014/main" id="{5D104B0B-7B6E-49F3-AF57-08C794DB31C0}"/>
              </a:ext>
            </a:extLst>
          </p:cNvPr>
          <p:cNvSpPr/>
          <p:nvPr/>
        </p:nvSpPr>
        <p:spPr>
          <a:xfrm rot="10800000">
            <a:off x="10428989" y="2215619"/>
            <a:ext cx="590188" cy="4014423"/>
          </a:xfrm>
          <a:prstGeom prst="downArrow">
            <a:avLst>
              <a:gd name="adj1" fmla="val 39985"/>
              <a:gd name="adj2" fmla="val 13888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EF14462-2B13-4584-B1EB-80AA0582F03D}"/>
              </a:ext>
            </a:extLst>
          </p:cNvPr>
          <p:cNvSpPr txBox="1"/>
          <p:nvPr/>
        </p:nvSpPr>
        <p:spPr>
          <a:xfrm>
            <a:off x="10849084" y="3568194"/>
            <a:ext cx="1171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dirty="0">
                <a:solidFill>
                  <a:srgbClr val="0070C0"/>
                </a:solidFill>
              </a:rPr>
              <a:t>Z-axis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3833277-5BF8-45CE-BE51-710C951F7FFB}"/>
              </a:ext>
            </a:extLst>
          </p:cNvPr>
          <p:cNvSpPr txBox="1"/>
          <p:nvPr/>
        </p:nvSpPr>
        <p:spPr>
          <a:xfrm>
            <a:off x="7657383" y="2043242"/>
            <a:ext cx="377761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rgbClr val="0070C0"/>
                </a:solidFill>
              </a:rPr>
              <a:t>mMBoardThickness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48331D3E-E517-4C2B-B478-024FC3CF81A6}"/>
              </a:ext>
            </a:extLst>
          </p:cNvPr>
          <p:cNvCxnSpPr>
            <a:cxnSpLocks/>
          </p:cNvCxnSpPr>
          <p:nvPr/>
        </p:nvCxnSpPr>
        <p:spPr>
          <a:xfrm flipV="1">
            <a:off x="9001074" y="2354412"/>
            <a:ext cx="0" cy="264400"/>
          </a:xfrm>
          <a:prstGeom prst="straightConnector1">
            <a:avLst/>
          </a:prstGeom>
          <a:ln w="38100">
            <a:solidFill>
              <a:srgbClr val="0070C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9CC97C42-DB9E-4AF9-B280-9AD39174D6EB}"/>
              </a:ext>
            </a:extLst>
          </p:cNvPr>
          <p:cNvSpPr txBox="1"/>
          <p:nvPr/>
        </p:nvSpPr>
        <p:spPr>
          <a:xfrm>
            <a:off x="5493586" y="2448642"/>
            <a:ext cx="377761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rgbClr val="0070C0"/>
                </a:solidFill>
              </a:rPr>
              <a:t>mMBaseThickness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7D5354CB-A649-4C24-A4BD-B5827E8A1468}"/>
              </a:ext>
            </a:extLst>
          </p:cNvPr>
          <p:cNvCxnSpPr>
            <a:cxnSpLocks/>
          </p:cNvCxnSpPr>
          <p:nvPr/>
        </p:nvCxnSpPr>
        <p:spPr>
          <a:xfrm>
            <a:off x="8277584" y="2485289"/>
            <a:ext cx="0" cy="406418"/>
          </a:xfrm>
          <a:prstGeom prst="straightConnector1">
            <a:avLst/>
          </a:prstGeom>
          <a:ln w="38100">
            <a:solidFill>
              <a:srgbClr val="0070C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1A94618E-5753-43C9-88C1-FFAA3194F80C}"/>
              </a:ext>
            </a:extLst>
          </p:cNvPr>
          <p:cNvSpPr txBox="1"/>
          <p:nvPr/>
        </p:nvSpPr>
        <p:spPr>
          <a:xfrm>
            <a:off x="3983150" y="3018983"/>
            <a:ext cx="377761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rgbClr val="0070C0"/>
                </a:solidFill>
              </a:rPr>
              <a:t>mMBaseBracketThickness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5B3BCFFC-CC12-4386-ADEE-DE55F72A4D30}"/>
              </a:ext>
            </a:extLst>
          </p:cNvPr>
          <p:cNvCxnSpPr>
            <a:cxnSpLocks/>
          </p:cNvCxnSpPr>
          <p:nvPr/>
        </p:nvCxnSpPr>
        <p:spPr>
          <a:xfrm>
            <a:off x="7098731" y="2905120"/>
            <a:ext cx="0" cy="781255"/>
          </a:xfrm>
          <a:prstGeom prst="straightConnector1">
            <a:avLst/>
          </a:prstGeom>
          <a:ln w="38100">
            <a:solidFill>
              <a:srgbClr val="0070C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45E20420-DC6D-4BF9-B614-F3A8A11DDF13}"/>
              </a:ext>
            </a:extLst>
          </p:cNvPr>
          <p:cNvSpPr txBox="1"/>
          <p:nvPr/>
        </p:nvSpPr>
        <p:spPr>
          <a:xfrm>
            <a:off x="6331015" y="3921540"/>
            <a:ext cx="377761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dirty="0" err="1">
                <a:solidFill>
                  <a:srgbClr val="0070C0"/>
                </a:solidFill>
              </a:rPr>
              <a:t>mMTeflonSpacerPadThickness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57561BA2-E54B-4DC2-A39F-B5AB882FE8BE}"/>
              </a:ext>
            </a:extLst>
          </p:cNvPr>
          <p:cNvCxnSpPr>
            <a:cxnSpLocks/>
          </p:cNvCxnSpPr>
          <p:nvPr/>
        </p:nvCxnSpPr>
        <p:spPr>
          <a:xfrm>
            <a:off x="6336995" y="3702550"/>
            <a:ext cx="0" cy="781255"/>
          </a:xfrm>
          <a:prstGeom prst="straightConnector1">
            <a:avLst/>
          </a:prstGeom>
          <a:ln w="38100">
            <a:solidFill>
              <a:srgbClr val="0070C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16C04AEB-30C0-4599-A2DF-F5E93C9F5C7A}"/>
              </a:ext>
            </a:extLst>
          </p:cNvPr>
          <p:cNvSpPr txBox="1"/>
          <p:nvPr/>
        </p:nvSpPr>
        <p:spPr>
          <a:xfrm>
            <a:off x="6660898" y="4194459"/>
            <a:ext cx="377761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rgbClr val="0070C0"/>
                </a:solidFill>
              </a:rPr>
              <a:t>mMBoardThickness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252A0CA2-7ECA-4067-9AA3-EF2D5ED4A283}"/>
              </a:ext>
            </a:extLst>
          </p:cNvPr>
          <p:cNvCxnSpPr>
            <a:cxnSpLocks/>
          </p:cNvCxnSpPr>
          <p:nvPr/>
        </p:nvCxnSpPr>
        <p:spPr>
          <a:xfrm flipV="1">
            <a:off x="7606201" y="4393045"/>
            <a:ext cx="0" cy="264400"/>
          </a:xfrm>
          <a:prstGeom prst="straightConnector1">
            <a:avLst/>
          </a:prstGeom>
          <a:ln w="38100">
            <a:solidFill>
              <a:srgbClr val="0070C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AFD499F3-2F1F-4C6B-AE9D-61838CC6204A}"/>
              </a:ext>
            </a:extLst>
          </p:cNvPr>
          <p:cNvSpPr txBox="1"/>
          <p:nvPr/>
        </p:nvSpPr>
        <p:spPr>
          <a:xfrm>
            <a:off x="6388779" y="4593673"/>
            <a:ext cx="377761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rgbClr val="0070C0"/>
                </a:solidFill>
              </a:rPr>
              <a:t>limandeThickness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1E80E25A-CC4C-4F15-A56B-2D3BDFB3C04B}"/>
              </a:ext>
            </a:extLst>
          </p:cNvPr>
          <p:cNvCxnSpPr>
            <a:cxnSpLocks/>
          </p:cNvCxnSpPr>
          <p:nvPr/>
        </p:nvCxnSpPr>
        <p:spPr>
          <a:xfrm flipV="1">
            <a:off x="7382391" y="4554106"/>
            <a:ext cx="0" cy="264400"/>
          </a:xfrm>
          <a:prstGeom prst="straightConnector1">
            <a:avLst/>
          </a:prstGeom>
          <a:ln w="38100">
            <a:solidFill>
              <a:srgbClr val="0070C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084972A1-7322-4CA5-8218-513556F0E4CF}"/>
              </a:ext>
            </a:extLst>
          </p:cNvPr>
          <p:cNvSpPr txBox="1"/>
          <p:nvPr/>
        </p:nvSpPr>
        <p:spPr>
          <a:xfrm>
            <a:off x="3289740" y="4845126"/>
            <a:ext cx="377761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s-ES" dirty="0" err="1">
                <a:solidFill>
                  <a:srgbClr val="0070C0"/>
                </a:solidFill>
              </a:rPr>
              <a:t>mMBaseBracketThickness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A4684AA2-F0FD-4449-A99C-78F5327B702D}"/>
              </a:ext>
            </a:extLst>
          </p:cNvPr>
          <p:cNvCxnSpPr>
            <a:cxnSpLocks/>
          </p:cNvCxnSpPr>
          <p:nvPr/>
        </p:nvCxnSpPr>
        <p:spPr>
          <a:xfrm>
            <a:off x="7036830" y="4672743"/>
            <a:ext cx="0" cy="781255"/>
          </a:xfrm>
          <a:prstGeom prst="straightConnector1">
            <a:avLst/>
          </a:prstGeom>
          <a:ln w="38100">
            <a:solidFill>
              <a:srgbClr val="0070C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6762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4C5F2C5-5022-4D6B-B59E-99B5855FF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1" y="850557"/>
            <a:ext cx="5706996" cy="599763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C51A05A-87AE-4C96-AEF2-2E4365A9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485" y="-31569"/>
            <a:ext cx="11952511" cy="1325563"/>
          </a:xfrm>
        </p:spPr>
        <p:txBody>
          <a:bodyPr/>
          <a:lstStyle/>
          <a:p>
            <a:r>
              <a:rPr lang="es-ES" dirty="0"/>
              <a:t>Position (Z)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micromegas</a:t>
            </a:r>
            <a:r>
              <a:rPr lang="es-ES" dirty="0"/>
              <a:t> </a:t>
            </a:r>
            <a:r>
              <a:rPr lang="es-ES" dirty="0" err="1"/>
              <a:t>assembly</a:t>
            </a:r>
            <a:r>
              <a:rPr lang="es-ES" dirty="0"/>
              <a:t> </a:t>
            </a:r>
            <a:r>
              <a:rPr lang="es-ES" dirty="0" err="1"/>
              <a:t>wrt</a:t>
            </a:r>
            <a:r>
              <a:rPr lang="es-ES" dirty="0"/>
              <a:t> </a:t>
            </a:r>
            <a:r>
              <a:rPr lang="es-ES" dirty="0" err="1"/>
              <a:t>vessel</a:t>
            </a:r>
            <a:endParaRPr lang="en-US" dirty="0"/>
          </a:p>
        </p:txBody>
      </p:sp>
      <p:sp>
        <p:nvSpPr>
          <p:cNvPr id="22" name="Flecha: hacia abajo 21">
            <a:extLst>
              <a:ext uri="{FF2B5EF4-FFF2-40B4-BE49-F238E27FC236}">
                <a16:creationId xmlns:a16="http://schemas.microsoft.com/office/drawing/2014/main" id="{5D104B0B-7B6E-49F3-AF57-08C794DB31C0}"/>
              </a:ext>
            </a:extLst>
          </p:cNvPr>
          <p:cNvSpPr/>
          <p:nvPr/>
        </p:nvSpPr>
        <p:spPr>
          <a:xfrm rot="10800000">
            <a:off x="10428989" y="2215619"/>
            <a:ext cx="590188" cy="4014423"/>
          </a:xfrm>
          <a:prstGeom prst="downArrow">
            <a:avLst>
              <a:gd name="adj1" fmla="val 39985"/>
              <a:gd name="adj2" fmla="val 13888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EF14462-2B13-4584-B1EB-80AA0582F03D}"/>
              </a:ext>
            </a:extLst>
          </p:cNvPr>
          <p:cNvSpPr txBox="1"/>
          <p:nvPr/>
        </p:nvSpPr>
        <p:spPr>
          <a:xfrm>
            <a:off x="10849084" y="3568194"/>
            <a:ext cx="1171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dirty="0">
                <a:solidFill>
                  <a:srgbClr val="0070C0"/>
                </a:solidFill>
              </a:rPr>
              <a:t>Z-axis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9CC97C42-DB9E-4AF9-B280-9AD39174D6EB}"/>
              </a:ext>
            </a:extLst>
          </p:cNvPr>
          <p:cNvSpPr txBox="1"/>
          <p:nvPr/>
        </p:nvSpPr>
        <p:spPr>
          <a:xfrm>
            <a:off x="6651379" y="1210348"/>
            <a:ext cx="377761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rgbClr val="0070C0"/>
                </a:solidFill>
              </a:rPr>
              <a:t>mMBaseThickness</a:t>
            </a:r>
            <a:r>
              <a:rPr lang="es-ES" dirty="0">
                <a:solidFill>
                  <a:srgbClr val="0070C0"/>
                </a:solidFill>
              </a:rPr>
              <a:t>/2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7D5354CB-A649-4C24-A4BD-B5827E8A1468}"/>
              </a:ext>
            </a:extLst>
          </p:cNvPr>
          <p:cNvCxnSpPr>
            <a:cxnSpLocks/>
          </p:cNvCxnSpPr>
          <p:nvPr/>
        </p:nvCxnSpPr>
        <p:spPr>
          <a:xfrm>
            <a:off x="7514380" y="1546893"/>
            <a:ext cx="0" cy="176700"/>
          </a:xfrm>
          <a:prstGeom prst="straightConnector1">
            <a:avLst/>
          </a:prstGeom>
          <a:ln w="12700">
            <a:solidFill>
              <a:srgbClr val="0070C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1A94618E-5753-43C9-88C1-FFAA3194F80C}"/>
              </a:ext>
            </a:extLst>
          </p:cNvPr>
          <p:cNvSpPr txBox="1"/>
          <p:nvPr/>
        </p:nvSpPr>
        <p:spPr>
          <a:xfrm>
            <a:off x="6823034" y="3746743"/>
            <a:ext cx="377761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rgbClr val="0070C0"/>
                </a:solidFill>
              </a:rPr>
              <a:t>capSupportFinalHeight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5B3BCFFC-CC12-4386-ADEE-DE55F72A4D30}"/>
              </a:ext>
            </a:extLst>
          </p:cNvPr>
          <p:cNvCxnSpPr>
            <a:cxnSpLocks/>
          </p:cNvCxnSpPr>
          <p:nvPr/>
        </p:nvCxnSpPr>
        <p:spPr>
          <a:xfrm>
            <a:off x="7514380" y="1723593"/>
            <a:ext cx="0" cy="4601007"/>
          </a:xfrm>
          <a:prstGeom prst="straightConnector1">
            <a:avLst/>
          </a:prstGeom>
          <a:ln w="38100">
            <a:solidFill>
              <a:srgbClr val="0070C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BFDB32ED-BAAA-483C-AF6E-1ECDD1E5F877}"/>
              </a:ext>
            </a:extLst>
          </p:cNvPr>
          <p:cNvSpPr txBox="1"/>
          <p:nvPr/>
        </p:nvSpPr>
        <p:spPr>
          <a:xfrm>
            <a:off x="76200" y="1854200"/>
            <a:ext cx="313944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The</a:t>
            </a:r>
            <a:r>
              <a:rPr lang="es-ES" dirty="0"/>
              <a:t> center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Micromegas</a:t>
            </a:r>
            <a:r>
              <a:rPr lang="es-ES" dirty="0"/>
              <a:t> </a:t>
            </a:r>
            <a:r>
              <a:rPr lang="es-ES" dirty="0" err="1"/>
              <a:t>assembly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at </a:t>
            </a:r>
            <a:r>
              <a:rPr lang="es-ES" dirty="0" err="1"/>
              <a:t>the</a:t>
            </a:r>
            <a:r>
              <a:rPr lang="es-ES" dirty="0"/>
              <a:t> center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mMBase</a:t>
            </a:r>
            <a:r>
              <a:rPr lang="es-ES" dirty="0"/>
              <a:t>. So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Micromegas</a:t>
            </a:r>
            <a:r>
              <a:rPr lang="es-ES" dirty="0"/>
              <a:t> </a:t>
            </a:r>
            <a:r>
              <a:rPr lang="es-ES" dirty="0" err="1"/>
              <a:t>assembly</a:t>
            </a:r>
            <a:r>
              <a:rPr lang="es-ES" dirty="0"/>
              <a:t> </a:t>
            </a:r>
            <a:r>
              <a:rPr lang="es-ES" dirty="0" err="1"/>
              <a:t>must</a:t>
            </a:r>
            <a:r>
              <a:rPr lang="es-ES" dirty="0"/>
              <a:t> be placed a </a:t>
            </a:r>
            <a:r>
              <a:rPr lang="es-ES" dirty="0" err="1"/>
              <a:t>distance</a:t>
            </a:r>
            <a:r>
              <a:rPr lang="es-ES" dirty="0"/>
              <a:t>:</a:t>
            </a:r>
          </a:p>
          <a:p>
            <a:endParaRPr lang="es-ES" dirty="0"/>
          </a:p>
          <a:p>
            <a:r>
              <a:rPr lang="es-ES" sz="1200" dirty="0" err="1"/>
              <a:t>capSupportFinalHeight</a:t>
            </a:r>
            <a:r>
              <a:rPr lang="es-ES" sz="1200" dirty="0"/>
              <a:t> + </a:t>
            </a:r>
            <a:r>
              <a:rPr lang="es-ES" sz="1200" dirty="0" err="1"/>
              <a:t>mMBaseThickness</a:t>
            </a:r>
            <a:r>
              <a:rPr lang="es-ES" sz="1200" dirty="0"/>
              <a:t>/2</a:t>
            </a:r>
          </a:p>
          <a:p>
            <a:endParaRPr lang="es-ES" dirty="0"/>
          </a:p>
          <a:p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vessel</a:t>
            </a:r>
            <a:r>
              <a:rPr lang="es-ES" dirty="0"/>
              <a:t> </a:t>
            </a:r>
            <a:r>
              <a:rPr lang="es-ES" dirty="0" err="1"/>
              <a:t>end</a:t>
            </a:r>
            <a:r>
              <a:rPr lang="es-ES" dirty="0"/>
              <a:t> cap.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0597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673</TotalTime>
  <Words>455</Words>
  <Application>Microsoft Office PowerPoint</Application>
  <PresentationFormat>Panorámica</PresentationFormat>
  <Paragraphs>100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Consolas</vt:lpstr>
      <vt:lpstr>Showcard Gothic</vt:lpstr>
      <vt:lpstr>Tema de Office</vt:lpstr>
      <vt:lpstr>Micromegas assembly</vt:lpstr>
      <vt:lpstr>CAD design which is based on</vt:lpstr>
      <vt:lpstr>Micromegas generator module</vt:lpstr>
      <vt:lpstr>mMBase</vt:lpstr>
      <vt:lpstr>mMBaseBracket</vt:lpstr>
      <vt:lpstr>mMSupport</vt:lpstr>
      <vt:lpstr>mMBoard</vt:lpstr>
      <vt:lpstr>mMBoard – thickness</vt:lpstr>
      <vt:lpstr>Limande A</vt:lpstr>
      <vt:lpstr>Limande – thickness</vt:lpstr>
      <vt:lpstr>Closing Bracket-limande-mMBoard-mMBase</vt:lpstr>
      <vt:lpstr>Position (Z) of the micromegas assembly wrt vessel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Micromegas assembly</dc:title>
  <dc:creator>Alvaro</dc:creator>
  <cp:lastModifiedBy>Alvaro</cp:lastModifiedBy>
  <cp:revision>71</cp:revision>
  <dcterms:created xsi:type="dcterms:W3CDTF">2025-06-24T13:05:21Z</dcterms:created>
  <dcterms:modified xsi:type="dcterms:W3CDTF">2025-07-16T09:15:31Z</dcterms:modified>
</cp:coreProperties>
</file>